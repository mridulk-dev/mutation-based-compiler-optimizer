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embeddedFontLst>
    <p:embeddedFont>
      <p:font typeface="Mozilla Text Medium"/>
      <p:regular r:id="rId16"/>
      <p:bold r:id="rId17"/>
    </p:embeddedFont>
    <p:embeddedFont>
      <p:font typeface="Ledger"/>
      <p:regular r:id="rId18"/>
    </p:embeddedFont>
    <p:embeddedFont>
      <p:font typeface="Mozilla Text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B469875-2126-43AC-AF7F-AC486EA822BE}">
  <a:tblStyle styleId="{2B469875-2126-43AC-AF7F-AC486EA822B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zillaText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zillaTextMedium-bold.fntdata"/><Relationship Id="rId16" Type="http://schemas.openxmlformats.org/officeDocument/2006/relationships/font" Target="fonts/MozillaTextMedium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zillaText-regular.fntdata"/><Relationship Id="rId6" Type="http://schemas.openxmlformats.org/officeDocument/2006/relationships/slide" Target="slides/slide1.xml"/><Relationship Id="rId18" Type="http://schemas.openxmlformats.org/officeDocument/2006/relationships/font" Target="fonts/Ledg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reported reductions use a simulated cost model, not measured execution time.</a:t>
            </a:r>
            <a:endParaRPr/>
          </a:p>
        </p:txBody>
      </p:sp>
      <p:sp>
        <p:nvSpPr>
          <p:cNvPr id="158" name="Google Shape;15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C1C1D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2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2">
  <p:cSld name="Slide master 2">
    <p:bg>
      <p:bgPr>
        <a:solidFill>
          <a:srgbClr val="0C1C1D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457200" y="457200"/>
            <a:ext cx="8686800" cy="130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850"/>
              <a:buFont typeface="Mozilla Text Medium"/>
              <a:buNone/>
            </a:pPr>
            <a:r>
              <a:rPr b="0" i="0" lang="en-US" sz="850" u="none" cap="none" strike="noStrike">
                <a:solidFill>
                  <a:srgbClr val="D6E0DC"/>
                </a:solidFill>
                <a:latin typeface="Mozilla Text Medium"/>
                <a:ea typeface="Mozilla Text Medium"/>
                <a:cs typeface="Mozilla Text Medium"/>
                <a:sym typeface="Mozilla Text Medium"/>
              </a:rPr>
              <a:t>REVIEW 1 · BCSE307P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5"/>
          <p:cNvSpPr/>
          <p:nvPr/>
        </p:nvSpPr>
        <p:spPr>
          <a:xfrm>
            <a:off x="457200" y="740569"/>
            <a:ext cx="8324850" cy="104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3850"/>
              <a:buFont typeface="Ledger"/>
              <a:buNone/>
            </a:pPr>
            <a:r>
              <a:rPr b="0" i="0" lang="en-US" sz="3850" u="none" cap="none" strike="noStrike">
                <a:solidFill>
                  <a:srgbClr val="D6E0DC"/>
                </a:solidFill>
                <a:latin typeface="Ledger"/>
                <a:ea typeface="Ledger"/>
                <a:cs typeface="Ledger"/>
                <a:sym typeface="Ledger"/>
              </a:rPr>
              <a:t>Automated Mutation-Based Compiler Code Optimization</a:t>
            </a:r>
            <a:endParaRPr b="0" i="0" sz="3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5"/>
          <p:cNvSpPr/>
          <p:nvPr/>
        </p:nvSpPr>
        <p:spPr>
          <a:xfrm>
            <a:off x="457200" y="3348112"/>
            <a:ext cx="8686800" cy="234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300"/>
              <a:buFont typeface="Mozilla Text"/>
              <a:buNone/>
            </a:pPr>
            <a:r>
              <a:rPr b="0" i="0" lang="en-US" sz="13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Compiler Design Lab Project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5"/>
          <p:cNvSpPr/>
          <p:nvPr/>
        </p:nvSpPr>
        <p:spPr>
          <a:xfrm>
            <a:off x="457200" y="3706713"/>
            <a:ext cx="8686800" cy="141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850"/>
              <a:buFont typeface="Mozilla Text"/>
              <a:buNone/>
            </a:pPr>
            <a:r>
              <a:rPr b="0" i="0" lang="en-US" sz="85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School of Computer Science and Engineering (SCOPE), VIT · October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5"/>
          <p:cNvSpPr/>
          <p:nvPr/>
        </p:nvSpPr>
        <p:spPr>
          <a:xfrm>
            <a:off x="457200" y="4274344"/>
            <a:ext cx="8324850" cy="469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950"/>
              <a:buFont typeface="Mozilla Text"/>
              <a:buNone/>
            </a:pPr>
            <a:r>
              <a:rPr b="0" i="0" lang="en-US" sz="95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[</a:t>
            </a:r>
            <a:r>
              <a:rPr lang="en-US" sz="95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24BCI0183 </a:t>
            </a:r>
            <a:r>
              <a:rPr b="0" i="0" lang="en-US" sz="95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–</a:t>
            </a:r>
            <a:r>
              <a:rPr lang="en-US" sz="95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 Mridul Kishanpuria</a:t>
            </a:r>
            <a:r>
              <a:rPr b="0" i="0" lang="en-US" sz="95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] · [</a:t>
            </a:r>
            <a:r>
              <a:rPr lang="en-US" sz="95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24BCI0188 </a:t>
            </a:r>
            <a:r>
              <a:rPr b="0" i="0" lang="en-US" sz="95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–</a:t>
            </a:r>
            <a:r>
              <a:rPr lang="en-US" sz="95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 Girraj Yadav</a:t>
            </a:r>
            <a:r>
              <a:rPr b="0" i="0" lang="en-US" sz="95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1000"/>
              </a:lnSpc>
              <a:spcBef>
                <a:spcPts val="950"/>
              </a:spcBef>
              <a:spcAft>
                <a:spcPts val="0"/>
              </a:spcAft>
              <a:buClr>
                <a:srgbClr val="D6E0DC"/>
              </a:buClr>
              <a:buSzPts val="950"/>
              <a:buFont typeface="Mozilla Text"/>
              <a:buNone/>
            </a:pPr>
            <a:r>
              <a:rPr lang="en-US" sz="95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Facutly: Prof. Mukhtar Ahmed Sofi · </a:t>
            </a:r>
            <a:r>
              <a:rPr b="0" i="0" lang="en-US" sz="95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Slot: </a:t>
            </a:r>
            <a:r>
              <a:rPr lang="en-US" sz="95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L11 + L12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" y="457200"/>
            <a:ext cx="2895600" cy="130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850"/>
              <a:buFont typeface="Mozilla Text Medium"/>
              <a:buNone/>
            </a:pPr>
            <a:r>
              <a:rPr b="0" i="0" lang="en-US" sz="850" u="none" cap="none" strike="noStrike">
                <a:solidFill>
                  <a:srgbClr val="D6E0DC"/>
                </a:solidFill>
                <a:latin typeface="Mozilla Text Medium"/>
                <a:ea typeface="Mozilla Text Medium"/>
                <a:cs typeface="Mozilla Text Medium"/>
                <a:sym typeface="Mozilla Text Medium"/>
              </a:rPr>
              <a:t>WHY THIS PROJECT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6"/>
          <p:cNvSpPr/>
          <p:nvPr/>
        </p:nvSpPr>
        <p:spPr>
          <a:xfrm>
            <a:off x="457200" y="642938"/>
            <a:ext cx="2609850" cy="754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2650"/>
              <a:buFont typeface="Ledger"/>
              <a:buNone/>
            </a:pPr>
            <a:r>
              <a:rPr b="0" i="0" lang="en-US" sz="2650" u="none" cap="none" strike="noStrike">
                <a:solidFill>
                  <a:srgbClr val="F1F5F2"/>
                </a:solidFill>
                <a:latin typeface="Ledger"/>
                <a:ea typeface="Ledger"/>
                <a:cs typeface="Ledger"/>
                <a:sym typeface="Ledger"/>
              </a:rPr>
              <a:t>Objectives and research gap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6"/>
          <p:cNvSpPr/>
          <p:nvPr/>
        </p:nvSpPr>
        <p:spPr>
          <a:xfrm>
            <a:off x="457200" y="3981971"/>
            <a:ext cx="2609850" cy="704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300"/>
              <a:buFont typeface="Mozilla Text"/>
              <a:buNone/>
            </a:pPr>
            <a:r>
              <a:rPr b="0" i="0" lang="en-US" sz="13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Make optimization inspectable from source program to accepted mutation.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6"/>
          <p:cNvSpPr/>
          <p:nvPr/>
        </p:nvSpPr>
        <p:spPr>
          <a:xfrm>
            <a:off x="3810000" y="457200"/>
            <a:ext cx="67992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9DB0AB"/>
              </a:buClr>
              <a:buSzPts val="1500"/>
              <a:buFont typeface="Mozilla Text"/>
              <a:buNone/>
            </a:pPr>
            <a:r>
              <a:rPr b="0" i="0" lang="en-US" sz="1500" u="none" cap="none" strike="noStrike">
                <a:solidFill>
                  <a:srgbClr val="9DB0AB"/>
                </a:solidFill>
                <a:latin typeface="Mozilla Text"/>
                <a:ea typeface="Mozilla Text"/>
                <a:cs typeface="Mozilla Text"/>
                <a:sym typeface="Mozilla Text"/>
              </a:rPr>
              <a:t>01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6"/>
          <p:cNvSpPr/>
          <p:nvPr/>
        </p:nvSpPr>
        <p:spPr>
          <a:xfrm>
            <a:off x="3810000" y="701725"/>
            <a:ext cx="1511201" cy="9451"/>
          </a:xfrm>
          <a:prstGeom prst="rect">
            <a:avLst/>
          </a:prstGeom>
          <a:solidFill>
            <a:srgbClr val="3E55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3810000" y="792882"/>
            <a:ext cx="1511275" cy="225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1400"/>
              <a:buFont typeface="Mozilla Text"/>
              <a:buNone/>
            </a:pPr>
            <a:r>
              <a:rPr b="0" i="0" lang="en-US" sz="1400" u="none" cap="none" strike="noStrike">
                <a:solidFill>
                  <a:srgbClr val="F1F5F2"/>
                </a:solidFill>
                <a:latin typeface="Mozilla Text"/>
                <a:ea typeface="Mozilla Text"/>
                <a:cs typeface="Mozilla Text"/>
                <a:sym typeface="Mozilla Text"/>
              </a:rPr>
              <a:t>Parse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6"/>
          <p:cNvSpPr/>
          <p:nvPr/>
        </p:nvSpPr>
        <p:spPr>
          <a:xfrm>
            <a:off x="3810000" y="1118443"/>
            <a:ext cx="1511275" cy="400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Convert MiniArith into naive TAC.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5549875" y="457200"/>
            <a:ext cx="70834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9DB0AB"/>
              </a:buClr>
              <a:buSzPts val="1500"/>
              <a:buFont typeface="Mozilla Text"/>
              <a:buNone/>
            </a:pPr>
            <a:r>
              <a:rPr b="0" i="0" lang="en-US" sz="1500" u="none" cap="none" strike="noStrike">
                <a:solidFill>
                  <a:srgbClr val="9DB0AB"/>
                </a:solidFill>
                <a:latin typeface="Mozilla Text"/>
                <a:ea typeface="Mozilla Text"/>
                <a:cs typeface="Mozilla Text"/>
                <a:sym typeface="Mozilla Text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5549875" y="701725"/>
            <a:ext cx="1396901" cy="9451"/>
          </a:xfrm>
          <a:prstGeom prst="rect">
            <a:avLst/>
          </a:prstGeom>
          <a:solidFill>
            <a:srgbClr val="3E55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5549875" y="792882"/>
            <a:ext cx="1396975" cy="225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1400"/>
              <a:buFont typeface="Mozilla Text"/>
              <a:buNone/>
            </a:pPr>
            <a:r>
              <a:rPr b="0" i="0" lang="en-US" sz="1400" u="none" cap="none" strike="noStrike">
                <a:solidFill>
                  <a:srgbClr val="F1F5F2"/>
                </a:solidFill>
                <a:latin typeface="Mozilla Text"/>
                <a:ea typeface="Mozilla Text"/>
                <a:cs typeface="Mozilla Text"/>
                <a:sym typeface="Mozilla Text"/>
              </a:rPr>
              <a:t>Mutate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5549875" y="1118443"/>
            <a:ext cx="1396975" cy="600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Apply classic optimizations one site at a time.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7175450" y="457200"/>
            <a:ext cx="70924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9DB0AB"/>
              </a:buClr>
              <a:buSzPts val="1500"/>
              <a:buFont typeface="Mozilla Text"/>
              <a:buNone/>
            </a:pPr>
            <a:r>
              <a:rPr b="0" i="0" lang="en-US" sz="1500" u="none" cap="none" strike="noStrike">
                <a:solidFill>
                  <a:srgbClr val="9DB0AB"/>
                </a:solidFill>
                <a:latin typeface="Mozilla Text"/>
                <a:ea typeface="Mozilla Text"/>
                <a:cs typeface="Mozilla Text"/>
                <a:sym typeface="Mozilla Text"/>
              </a:rPr>
              <a:t>03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7175450" y="701725"/>
            <a:ext cx="1511275" cy="9451"/>
          </a:xfrm>
          <a:prstGeom prst="rect">
            <a:avLst/>
          </a:prstGeom>
          <a:solidFill>
            <a:srgbClr val="3E55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7175450" y="792882"/>
            <a:ext cx="1511350" cy="225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1400"/>
              <a:buFont typeface="Mozilla Text"/>
              <a:buNone/>
            </a:pPr>
            <a:r>
              <a:rPr b="0" i="0" lang="en-US" sz="1400" u="none" cap="none" strike="noStrike">
                <a:solidFill>
                  <a:srgbClr val="F1F5F2"/>
                </a:solidFill>
                <a:latin typeface="Mozilla Text"/>
                <a:ea typeface="Mozilla Text"/>
                <a:cs typeface="Mozilla Text"/>
                <a:sym typeface="Mozilla Text"/>
              </a:rPr>
              <a:t>Validate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7175450" y="1118443"/>
            <a:ext cx="1511350" cy="600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Match output and error status by differential testing.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3810000" y="1947788"/>
            <a:ext cx="71020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9DB0AB"/>
              </a:buClr>
              <a:buSzPts val="1500"/>
              <a:buFont typeface="Mozilla Text"/>
              <a:buNone/>
            </a:pPr>
            <a:r>
              <a:rPr b="0" i="0" lang="en-US" sz="1500" u="none" cap="none" strike="noStrike">
                <a:solidFill>
                  <a:srgbClr val="9DB0AB"/>
                </a:solidFill>
                <a:latin typeface="Mozilla Text"/>
                <a:ea typeface="Mozilla Text"/>
                <a:cs typeface="Mozilla Text"/>
                <a:sym typeface="Mozilla Text"/>
              </a:rPr>
              <a:t>04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3810000" y="2192313"/>
            <a:ext cx="1511201" cy="9451"/>
          </a:xfrm>
          <a:prstGeom prst="rect">
            <a:avLst/>
          </a:prstGeom>
          <a:solidFill>
            <a:srgbClr val="3E55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3810000" y="2283470"/>
            <a:ext cx="1511275" cy="225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1400"/>
              <a:buFont typeface="Mozilla Text"/>
              <a:buNone/>
            </a:pPr>
            <a:r>
              <a:rPr b="0" i="0" lang="en-US" sz="1400" u="none" cap="none" strike="noStrike">
                <a:solidFill>
                  <a:srgbClr val="F1F5F2"/>
                </a:solidFill>
                <a:latin typeface="Mozilla Text"/>
                <a:ea typeface="Mozilla Text"/>
                <a:cs typeface="Mozilla Text"/>
                <a:sym typeface="Mozilla Text"/>
              </a:rPr>
              <a:t>Score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3810000" y="2609031"/>
            <a:ext cx="1511275" cy="600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Use a weighted simulated-cost model.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549875" y="1947788"/>
            <a:ext cx="71095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9DB0AB"/>
              </a:buClr>
              <a:buSzPts val="1500"/>
              <a:buFont typeface="Mozilla Text"/>
              <a:buNone/>
            </a:pPr>
            <a:r>
              <a:rPr b="0" i="0" lang="en-US" sz="1500" u="none" cap="none" strike="noStrike">
                <a:solidFill>
                  <a:srgbClr val="9DB0AB"/>
                </a:solidFill>
                <a:latin typeface="Mozilla Text"/>
                <a:ea typeface="Mozilla Text"/>
                <a:cs typeface="Mozilla Text"/>
                <a:sym typeface="Mozilla Text"/>
              </a:rPr>
              <a:t>05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5549875" y="2192313"/>
            <a:ext cx="1396901" cy="9451"/>
          </a:xfrm>
          <a:prstGeom prst="rect">
            <a:avLst/>
          </a:prstGeom>
          <a:solidFill>
            <a:srgbClr val="3E55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"/>
          <p:cNvSpPr/>
          <p:nvPr/>
        </p:nvSpPr>
        <p:spPr>
          <a:xfrm>
            <a:off x="5549875" y="2283470"/>
            <a:ext cx="1396975" cy="225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1400"/>
              <a:buFont typeface="Mozilla Text"/>
              <a:buNone/>
            </a:pPr>
            <a:r>
              <a:rPr b="0" i="0" lang="en-US" sz="1400" u="none" cap="none" strike="noStrike">
                <a:solidFill>
                  <a:srgbClr val="F1F5F2"/>
                </a:solidFill>
                <a:latin typeface="Mozilla Text"/>
                <a:ea typeface="Mozilla Text"/>
                <a:cs typeface="Mozilla Text"/>
                <a:sym typeface="Mozilla Text"/>
              </a:rPr>
              <a:t>Search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5549875" y="2609031"/>
            <a:ext cx="1396975" cy="600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Greedily accept the lowest-cost valid program.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7175450" y="1947788"/>
            <a:ext cx="711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9DB0AB"/>
              </a:buClr>
              <a:buSzPts val="1500"/>
              <a:buFont typeface="Mozilla Text"/>
              <a:buNone/>
            </a:pPr>
            <a:r>
              <a:rPr b="0" i="0" lang="en-US" sz="1500" u="none" cap="none" strike="noStrike">
                <a:solidFill>
                  <a:srgbClr val="9DB0AB"/>
                </a:solidFill>
                <a:latin typeface="Mozilla Text"/>
                <a:ea typeface="Mozilla Text"/>
                <a:cs typeface="Mozilla Text"/>
                <a:sym typeface="Mozilla Text"/>
              </a:rPr>
              <a:t>06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7175450" y="2192313"/>
            <a:ext cx="1511275" cy="9451"/>
          </a:xfrm>
          <a:prstGeom prst="rect">
            <a:avLst/>
          </a:prstGeom>
          <a:solidFill>
            <a:srgbClr val="3E55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7175450" y="2283470"/>
            <a:ext cx="1511350" cy="225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1400"/>
              <a:buFont typeface="Mozilla Text"/>
              <a:buNone/>
            </a:pPr>
            <a:r>
              <a:rPr b="0" i="0" lang="en-US" sz="1400" u="none" cap="none" strike="noStrike">
                <a:solidFill>
                  <a:srgbClr val="F1F5F2"/>
                </a:solidFill>
                <a:latin typeface="Mozilla Text"/>
                <a:ea typeface="Mozilla Text"/>
                <a:cs typeface="Mozilla Text"/>
                <a:sym typeface="Mozilla Text"/>
              </a:rPr>
              <a:t>Evaluate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7175450" y="2609031"/>
            <a:ext cx="1511350" cy="600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Run the pipeline on a reproducible seeded dataset.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3810000" y="3333601"/>
            <a:ext cx="4876800" cy="1490067"/>
          </a:xfrm>
          <a:prstGeom prst="roundRect">
            <a:avLst>
              <a:gd fmla="val 575" name="adj"/>
            </a:avLst>
          </a:prstGeom>
          <a:solidFill>
            <a:srgbClr val="802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3948113" y="3506242"/>
            <a:ext cx="4600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zilla Text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zilla Text"/>
                <a:ea typeface="Mozilla Text"/>
                <a:cs typeface="Mozilla Text"/>
                <a:sym typeface="Mozilla Text"/>
              </a:rPr>
              <a:t>Research gap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3948113" y="3850035"/>
            <a:ext cx="4600575" cy="800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Mozilla Text"/>
                <a:ea typeface="Mozilla Text"/>
                <a:cs typeface="Mozilla Text"/>
                <a:sym typeface="Mozilla Text"/>
              </a:rPr>
              <a:t>Existing tools are powerful yet difficult to inspect step by step. This project addresses a pedagogical gap: explicit mutations, candidate logs, validation results, costs, and observable search decisions, without claiming algorithmic novelty.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8681070" y="4833714"/>
            <a:ext cx="462930" cy="162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57150" spcFirstLastPara="1" rIns="57150" wrap="square" tIns="1905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700"/>
              <a:buFont typeface="Mozilla Text"/>
              <a:buNone/>
            </a:pPr>
            <a:r>
              <a:rPr b="0" i="0" lang="en-US" sz="7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2 / 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/>
          <p:nvPr/>
        </p:nvSpPr>
        <p:spPr>
          <a:xfrm>
            <a:off x="457200" y="457200"/>
            <a:ext cx="8686800" cy="130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850"/>
              <a:buFont typeface="Mozilla Text Medium"/>
              <a:buNone/>
            </a:pPr>
            <a:r>
              <a:rPr b="0" i="0" lang="en-US" sz="850" u="none" cap="none" strike="noStrike">
                <a:solidFill>
                  <a:srgbClr val="D6E0DC"/>
                </a:solidFill>
                <a:latin typeface="Mozilla Text Medium"/>
                <a:ea typeface="Mozilla Text Medium"/>
                <a:cs typeface="Mozilla Text Medium"/>
                <a:sym typeface="Mozilla Text Medium"/>
              </a:rPr>
              <a:t>LITERATURE REVIEW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457200" y="642938"/>
            <a:ext cx="8229600" cy="754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2700"/>
              <a:buFont typeface="Ledger"/>
              <a:buNone/>
            </a:pPr>
            <a:r>
              <a:rPr b="0" i="0" lang="en-US" sz="2700" u="none" cap="none" strike="noStrike">
                <a:solidFill>
                  <a:srgbClr val="F1F5F2"/>
                </a:solidFill>
                <a:latin typeface="Ledger"/>
                <a:ea typeface="Ledger"/>
                <a:cs typeface="Ledger"/>
                <a:sym typeface="Ledger"/>
              </a:rPr>
              <a:t>Literature review: established foundations, transparent reimplementation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457200" y="2669158"/>
            <a:ext cx="2400300" cy="939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300"/>
              <a:buFont typeface="Mozilla Text"/>
              <a:buNone/>
            </a:pPr>
            <a:r>
              <a:rPr b="0" i="0" lang="en-US" sz="13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The contribution is an educational reimplementation, not a new optimization technique.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3086026" y="1535311"/>
            <a:ext cx="2628900" cy="225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1400"/>
              <a:buFont typeface="Mozilla Text"/>
              <a:buNone/>
            </a:pPr>
            <a:r>
              <a:rPr b="0" i="0" lang="en-US" sz="1400" u="none" cap="none" strike="noStrike">
                <a:solidFill>
                  <a:srgbClr val="F1F5F2"/>
                </a:solidFill>
                <a:latin typeface="Mozilla Text"/>
                <a:ea typeface="Mozilla Text"/>
                <a:cs typeface="Mozilla Text"/>
                <a:sym typeface="Mozilla Text"/>
              </a:rPr>
              <a:t>Aho et 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3086026" y="1860872"/>
            <a:ext cx="2628900" cy="400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TAC and classical compiler optimization foundations.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6057826" y="1535311"/>
            <a:ext cx="2628974" cy="225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1400"/>
              <a:buFont typeface="Mozilla Text"/>
              <a:buNone/>
            </a:pPr>
            <a:r>
              <a:rPr b="0" i="0" lang="en-US" sz="1400" u="none" cap="none" strike="noStrike">
                <a:solidFill>
                  <a:srgbClr val="F1F5F2"/>
                </a:solidFill>
                <a:latin typeface="Mozilla Text"/>
                <a:ea typeface="Mozilla Text"/>
                <a:cs typeface="Mozilla Text"/>
                <a:sym typeface="Mozilla Text"/>
              </a:rPr>
              <a:t>Massalin · Schkufza et 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6057826" y="1860872"/>
            <a:ext cx="2628974" cy="400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Superoptimization and mutate–test–score search.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3086026" y="2775719"/>
            <a:ext cx="2628900" cy="225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1400"/>
              <a:buFont typeface="Mozilla Text"/>
              <a:buNone/>
            </a:pPr>
            <a:r>
              <a:rPr b="0" i="0" lang="en-US" sz="1400" u="none" cap="none" strike="noStrike">
                <a:solidFill>
                  <a:srgbClr val="F1F5F2"/>
                </a:solidFill>
                <a:latin typeface="Mozilla Text"/>
                <a:ea typeface="Mozilla Text"/>
                <a:cs typeface="Mozilla Text"/>
                <a:sym typeface="Mozilla Text"/>
              </a:rPr>
              <a:t>Petke et al. · Kulkarni et 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3086026" y="3101280"/>
            <a:ext cx="2628900" cy="400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Genetic improvement, phase ordering, and local search.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6057826" y="2775719"/>
            <a:ext cx="2628974" cy="225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1400"/>
              <a:buFont typeface="Mozilla Text"/>
              <a:buNone/>
            </a:pPr>
            <a:r>
              <a:rPr b="0" i="0" lang="en-US" sz="1400" u="none" cap="none" strike="noStrike">
                <a:solidFill>
                  <a:srgbClr val="F1F5F2"/>
                </a:solidFill>
                <a:latin typeface="Mozilla Text"/>
                <a:ea typeface="Mozilla Text"/>
                <a:cs typeface="Mozilla Text"/>
                <a:sym typeface="Mozilla Text"/>
              </a:rPr>
              <a:t>Tate et 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057826" y="3101280"/>
            <a:ext cx="2628974" cy="400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Equality saturation as a non-greedy alternative.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3086026" y="3844677"/>
            <a:ext cx="2628900" cy="225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1400"/>
              <a:buFont typeface="Mozilla Text"/>
              <a:buNone/>
            </a:pPr>
            <a:r>
              <a:rPr b="0" i="0" lang="en-US" sz="1400" u="none" cap="none" strike="noStrike">
                <a:solidFill>
                  <a:srgbClr val="F1F5F2"/>
                </a:solidFill>
                <a:latin typeface="Mozilla Text"/>
                <a:ea typeface="Mozilla Text"/>
                <a:cs typeface="Mozilla Text"/>
                <a:sym typeface="Mozilla Text"/>
              </a:rPr>
              <a:t>Lopes et al. · Yang et 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3086026" y="4170238"/>
            <a:ext cx="2628900" cy="400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Translation validation and compiler bug finding.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6057826" y="3844677"/>
            <a:ext cx="2628974" cy="225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1400"/>
              <a:buFont typeface="Mozilla Text"/>
              <a:buNone/>
            </a:pPr>
            <a:r>
              <a:rPr b="0" i="0" lang="en-US" sz="1400" u="none" cap="none" strike="noStrike">
                <a:solidFill>
                  <a:srgbClr val="F1F5F2"/>
                </a:solidFill>
                <a:latin typeface="Mozilla Text"/>
                <a:ea typeface="Mozilla Text"/>
                <a:cs typeface="Mozilla Text"/>
                <a:sym typeface="Mozilla Text"/>
              </a:rPr>
              <a:t>Cummins et 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6057826" y="4170238"/>
            <a:ext cx="2628974" cy="400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CompilerGym as an optimization research environment.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5881613" y="1535311"/>
            <a:ext cx="9525" cy="1068958"/>
          </a:xfrm>
          <a:prstGeom prst="rect">
            <a:avLst/>
          </a:prstGeom>
          <a:solidFill>
            <a:srgbClr val="3E55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3086026" y="2599506"/>
            <a:ext cx="2800350" cy="9525"/>
          </a:xfrm>
          <a:prstGeom prst="rect">
            <a:avLst/>
          </a:prstGeom>
          <a:solidFill>
            <a:srgbClr val="3E55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5881613" y="2604269"/>
            <a:ext cx="9525" cy="1068958"/>
          </a:xfrm>
          <a:prstGeom prst="rect">
            <a:avLst/>
          </a:prstGeom>
          <a:solidFill>
            <a:srgbClr val="3E55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5886376" y="2599506"/>
            <a:ext cx="2800424" cy="9525"/>
          </a:xfrm>
          <a:prstGeom prst="rect">
            <a:avLst/>
          </a:prstGeom>
          <a:solidFill>
            <a:srgbClr val="3E55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3086026" y="3668464"/>
            <a:ext cx="2800350" cy="9525"/>
          </a:xfrm>
          <a:prstGeom prst="rect">
            <a:avLst/>
          </a:prstGeom>
          <a:solidFill>
            <a:srgbClr val="3E55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5881613" y="3673227"/>
            <a:ext cx="9525" cy="1068958"/>
          </a:xfrm>
          <a:prstGeom prst="rect">
            <a:avLst/>
          </a:prstGeom>
          <a:solidFill>
            <a:srgbClr val="3E55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5886376" y="3668464"/>
            <a:ext cx="2800424" cy="9525"/>
          </a:xfrm>
          <a:prstGeom prst="rect">
            <a:avLst/>
          </a:prstGeom>
          <a:solidFill>
            <a:srgbClr val="3E55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8680624" y="4833714"/>
            <a:ext cx="463376" cy="162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57150" spcFirstLastPara="1" rIns="57150" wrap="square" tIns="1905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700"/>
              <a:buFont typeface="Mozilla Text"/>
              <a:buNone/>
            </a:pPr>
            <a:r>
              <a:rPr b="0" i="0" lang="en-US" sz="7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3 / 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/>
          <p:nvPr/>
        </p:nvSpPr>
        <p:spPr>
          <a:xfrm>
            <a:off x="457200" y="457200"/>
            <a:ext cx="8686800" cy="130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850"/>
              <a:buFont typeface="Mozilla Text Medium"/>
              <a:buNone/>
            </a:pPr>
            <a:r>
              <a:rPr b="0" i="0" lang="en-US" sz="850" u="none" cap="none" strike="noStrike">
                <a:solidFill>
                  <a:srgbClr val="D6E0DC"/>
                </a:solidFill>
                <a:latin typeface="Mozilla Text Medium"/>
                <a:ea typeface="Mozilla Text Medium"/>
                <a:cs typeface="Mozilla Text Medium"/>
                <a:sym typeface="Mozilla Text Medium"/>
              </a:rPr>
              <a:t>PROPOSED METHODOLOGY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457200" y="642938"/>
            <a:ext cx="8229600" cy="754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2650"/>
              <a:buFont typeface="Ledger"/>
              <a:buNone/>
            </a:pPr>
            <a:r>
              <a:rPr b="0" i="0" lang="en-US" sz="2650" u="none" cap="none" strike="noStrike">
                <a:solidFill>
                  <a:srgbClr val="F1F5F2"/>
                </a:solidFill>
                <a:latin typeface="Ledger"/>
                <a:ea typeface="Ledger"/>
                <a:cs typeface="Ledger"/>
                <a:sym typeface="Ledger"/>
              </a:rPr>
              <a:t>Search, validation, and cost form one decision loop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457200" y="1568648"/>
            <a:ext cx="8229600" cy="400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Source → Lexer / Parser → Naive TAC → Mutation → Candidate Pool → Correctness Validation → Cost Evaluation → Greedy Selection → Optimized TAC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457200" y="2140595"/>
            <a:ext cx="2514600" cy="130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850"/>
              <a:buFont typeface="Mozilla Text Medium"/>
              <a:buNone/>
            </a:pPr>
            <a:r>
              <a:rPr b="0" i="0" lang="en-US" sz="850" u="none" cap="none" strike="noStrike">
                <a:solidFill>
                  <a:srgbClr val="D6E0DC"/>
                </a:solidFill>
                <a:latin typeface="Mozilla Text Medium"/>
                <a:ea typeface="Mozilla Text Medium"/>
                <a:cs typeface="Mozilla Text Medium"/>
                <a:sym typeface="Mozilla Text Medium"/>
              </a:rPr>
              <a:t>MUTATIONS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457200" y="2352526"/>
            <a:ext cx="2514600" cy="1401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M1 zero-add removal · M2 one-multiply removal · M3 constant folding · M4 strength reduction · M5 dead assignment removal · M6 CSE · M7 constant propagation · M8 instruction reordering · M9 copy propagation.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3314700" y="2140595"/>
            <a:ext cx="2514600" cy="130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850"/>
              <a:buFont typeface="Mozilla Text Medium"/>
              <a:buNone/>
            </a:pPr>
            <a:r>
              <a:rPr b="0" i="0" lang="en-US" sz="850" u="none" cap="none" strike="noStrike">
                <a:solidFill>
                  <a:srgbClr val="D6E0DC"/>
                </a:solidFill>
                <a:latin typeface="Mozilla Text Medium"/>
                <a:ea typeface="Mozilla Text Medium"/>
                <a:cs typeface="Mozilla Text Medium"/>
                <a:sym typeface="Mozilla Text Medium"/>
              </a:rPr>
              <a:t>GUARDRAILS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3314700" y="2352526"/>
            <a:ext cx="2514600" cy="1001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Candidates must match original output and error status on deterministic inputs. Stop at a local optimum or the configured iteration cap.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6172200" y="2140595"/>
            <a:ext cx="2514600" cy="130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850"/>
              <a:buFont typeface="Mozilla Text Medium"/>
              <a:buNone/>
            </a:pPr>
            <a:r>
              <a:rPr b="0" i="0" lang="en-US" sz="850" u="none" cap="none" strike="noStrike">
                <a:solidFill>
                  <a:srgbClr val="D6E0DC"/>
                </a:solidFill>
                <a:latin typeface="Mozilla Text Medium"/>
                <a:ea typeface="Mozilla Text Medium"/>
                <a:cs typeface="Mozilla Text Medium"/>
                <a:sym typeface="Mozilla Text Medium"/>
              </a:rPr>
              <a:t>COST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6172200" y="2352526"/>
            <a:ext cx="2514600" cy="800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0.4 instructions + 0.3 arithmetic operations + 0.2 temporaries + 0.1 simulated cycles. All components are normalized.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8680177" y="4833714"/>
            <a:ext cx="463823" cy="162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57150" spcFirstLastPara="1" rIns="57150" wrap="square" tIns="1905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700"/>
              <a:buFont typeface="Mozilla Text"/>
              <a:buNone/>
            </a:pPr>
            <a:r>
              <a:rPr b="0" i="0" lang="en-US" sz="7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4 / 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/>
          <p:nvPr/>
        </p:nvSpPr>
        <p:spPr>
          <a:xfrm>
            <a:off x="457200" y="457200"/>
            <a:ext cx="8686800" cy="130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850"/>
              <a:buFont typeface="Mozilla Text Medium"/>
              <a:buNone/>
            </a:pPr>
            <a:r>
              <a:rPr b="0" i="0" lang="en-US" sz="850" u="none" cap="none" strike="noStrike">
                <a:solidFill>
                  <a:srgbClr val="D6E0DC"/>
                </a:solidFill>
                <a:latin typeface="Mozilla Text Medium"/>
                <a:ea typeface="Mozilla Text Medium"/>
                <a:cs typeface="Mozilla Text Medium"/>
                <a:sym typeface="Mozilla Text Medium"/>
              </a:rPr>
              <a:t>DATASET · CONTROLLED INPUT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457200" y="642938"/>
            <a:ext cx="822960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2650"/>
              <a:buFont typeface="Ledger"/>
              <a:buNone/>
            </a:pPr>
            <a:r>
              <a:rPr b="0" i="0" lang="en-US" sz="2650" u="none" cap="none" strike="noStrike">
                <a:solidFill>
                  <a:srgbClr val="F1F5F2"/>
                </a:solidFill>
                <a:latin typeface="Ledger"/>
                <a:ea typeface="Ledger"/>
                <a:cs typeface="Ledger"/>
                <a:sym typeface="Ledger"/>
              </a:rPr>
              <a:t>Dataset &amp; preprocessing are reproducible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457200" y="1158180"/>
            <a:ext cx="2590800" cy="1802011"/>
          </a:xfrm>
          <a:prstGeom prst="rect">
            <a:avLst/>
          </a:prstGeom>
          <a:solidFill>
            <a:srgbClr val="132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9"/>
          <p:cNvSpPr/>
          <p:nvPr/>
        </p:nvSpPr>
        <p:spPr>
          <a:xfrm>
            <a:off x="628650" y="1329630"/>
            <a:ext cx="2247900" cy="520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8A4C"/>
              </a:buClr>
              <a:buSzPts val="3850"/>
              <a:buFont typeface="Ledger"/>
              <a:buNone/>
            </a:pPr>
            <a:r>
              <a:rPr b="0" i="0" lang="en-US" sz="3850" u="none" cap="none" strike="noStrike">
                <a:solidFill>
                  <a:srgbClr val="FF8A4C"/>
                </a:solidFill>
                <a:latin typeface="Ledger"/>
                <a:ea typeface="Ledger"/>
                <a:cs typeface="Ledger"/>
                <a:sym typeface="Ledger"/>
              </a:rPr>
              <a:t>15</a:t>
            </a:r>
            <a:endParaRPr b="0" i="0" sz="3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628650" y="1987748"/>
            <a:ext cx="2247900" cy="400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seeded synthetic benchmark programs, P01–P15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3276600" y="1158180"/>
            <a:ext cx="2590800" cy="1802011"/>
          </a:xfrm>
          <a:prstGeom prst="rect">
            <a:avLst/>
          </a:prstGeom>
          <a:solidFill>
            <a:srgbClr val="132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"/>
          <p:cNvSpPr/>
          <p:nvPr/>
        </p:nvSpPr>
        <p:spPr>
          <a:xfrm>
            <a:off x="3448050" y="1329630"/>
            <a:ext cx="2247900" cy="520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8A4C"/>
              </a:buClr>
              <a:buSzPts val="3850"/>
              <a:buFont typeface="Ledger"/>
              <a:buNone/>
            </a:pPr>
            <a:r>
              <a:rPr b="0" i="0" lang="en-US" sz="3850" u="none" cap="none" strike="noStrike">
                <a:solidFill>
                  <a:srgbClr val="FF8A4C"/>
                </a:solidFill>
                <a:latin typeface="Ledger"/>
                <a:ea typeface="Ledger"/>
                <a:cs typeface="Ledger"/>
                <a:sym typeface="Ledger"/>
              </a:rPr>
              <a:t>6</a:t>
            </a:r>
            <a:endParaRPr b="0" i="0" sz="3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3448050" y="1987748"/>
            <a:ext cx="2247900" cy="800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categories: arithmetic, constant-heavy, dead-code, common-subexpression, strength-reduction, and mixed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6096000" y="1158180"/>
            <a:ext cx="2590800" cy="1802011"/>
          </a:xfrm>
          <a:prstGeom prst="rect">
            <a:avLst/>
          </a:prstGeom>
          <a:solidFill>
            <a:srgbClr val="132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/>
          <p:cNvSpPr/>
          <p:nvPr/>
        </p:nvSpPr>
        <p:spPr>
          <a:xfrm>
            <a:off x="6267450" y="1329630"/>
            <a:ext cx="2247900" cy="520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8A4C"/>
              </a:buClr>
              <a:buSzPts val="3850"/>
              <a:buFont typeface="Ledger"/>
              <a:buNone/>
            </a:pPr>
            <a:r>
              <a:rPr b="0" i="0" lang="en-US" sz="3850" u="none" cap="none" strike="noStrike">
                <a:solidFill>
                  <a:srgbClr val="FF8A4C"/>
                </a:solidFill>
                <a:latin typeface="Ledger"/>
                <a:ea typeface="Ledger"/>
                <a:cs typeface="Ledger"/>
                <a:sym typeface="Ledger"/>
              </a:rPr>
              <a:t>62</a:t>
            </a:r>
            <a:endParaRPr b="0" i="0" sz="3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6267450" y="1987748"/>
            <a:ext cx="2247900" cy="400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dataset test cases, with 3–5 per program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457200" y="3084016"/>
            <a:ext cx="39433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1500"/>
              <a:buFont typeface="Mozilla Text"/>
              <a:buNone/>
            </a:pPr>
            <a:r>
              <a:rPr b="0" i="0" lang="en-US" sz="1500" u="none" cap="none" strike="noStrike">
                <a:solidFill>
                  <a:srgbClr val="F1F5F2"/>
                </a:solidFill>
                <a:latin typeface="Mozilla Text"/>
                <a:ea typeface="Mozilla Text"/>
                <a:cs typeface="Mozilla Text"/>
                <a:sym typeface="Mozilla Text"/>
              </a:rPr>
              <a:t>Current dataset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457200" y="3427809"/>
            <a:ext cx="3943350" cy="600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Programs are generated from category templates; regeneration is byte-identical. Expected outputs come from an independent reference AST interpreter.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4743450" y="3084016"/>
            <a:ext cx="39433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1500"/>
              <a:buFont typeface="Mozilla Text"/>
              <a:buNone/>
            </a:pPr>
            <a:r>
              <a:rPr b="0" i="0" lang="en-US" sz="1500" u="none" cap="none" strike="noStrike">
                <a:solidFill>
                  <a:srgbClr val="F1F5F2"/>
                </a:solidFill>
                <a:latin typeface="Mozilla Text"/>
                <a:ea typeface="Mozilla Text"/>
                <a:cs typeface="Mozilla Text"/>
                <a:sym typeface="Mozilla Text"/>
              </a:rPr>
              <a:t>Future expansion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4743450" y="3427809"/>
            <a:ext cx="3943350" cy="400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cBench, MiBench, PolyBench, and CompilerGym are future expansion sources, not part of the current dataset.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4567238" y="3084016"/>
            <a:ext cx="9525" cy="944538"/>
          </a:xfrm>
          <a:prstGeom prst="rect">
            <a:avLst/>
          </a:prstGeom>
          <a:solidFill>
            <a:srgbClr val="3E55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8679879" y="4833714"/>
            <a:ext cx="464121" cy="162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57150" spcFirstLastPara="1" rIns="57150" wrap="square" tIns="1905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700"/>
              <a:buFont typeface="Mozilla Text"/>
              <a:buNone/>
            </a:pPr>
            <a:r>
              <a:rPr b="0" i="0" lang="en-US" sz="7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5 / 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/>
          <p:nvPr/>
        </p:nvSpPr>
        <p:spPr>
          <a:xfrm>
            <a:off x="457200" y="457200"/>
            <a:ext cx="8686800" cy="130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850"/>
              <a:buFont typeface="Mozilla Text Medium"/>
              <a:buNone/>
            </a:pPr>
            <a:r>
              <a:rPr b="0" i="0" lang="en-US" sz="850" u="none" cap="none" strike="noStrike">
                <a:solidFill>
                  <a:srgbClr val="D6E0DC"/>
                </a:solidFill>
                <a:latin typeface="Mozilla Text Medium"/>
                <a:ea typeface="Mozilla Text Medium"/>
                <a:cs typeface="Mozilla Text Medium"/>
                <a:sym typeface="Mozilla Text Medium"/>
              </a:rPr>
              <a:t>SYSTEM ARCHITECTURE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457200" y="642938"/>
            <a:ext cx="8229600" cy="754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2650"/>
              <a:buFont typeface="Ledger"/>
              <a:buNone/>
            </a:pPr>
            <a:r>
              <a:rPr b="0" i="0" lang="en-US" sz="2650" u="none" cap="none" strike="noStrike">
                <a:solidFill>
                  <a:srgbClr val="F1F5F2"/>
                </a:solidFill>
                <a:latin typeface="Ledger"/>
                <a:ea typeface="Ledger"/>
                <a:cs typeface="Ledger"/>
                <a:sym typeface="Ledger"/>
              </a:rPr>
              <a:t>System architecture: modular components, one observable workflow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457200" y="1535311"/>
            <a:ext cx="40005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2100"/>
              <a:buFont typeface="Ledger"/>
              <a:buNone/>
            </a:pPr>
            <a:r>
              <a:rPr b="0" i="0" lang="en-US" sz="2100" u="none" cap="none" strike="noStrike">
                <a:solidFill>
                  <a:srgbClr val="F1F5F2"/>
                </a:solidFill>
                <a:latin typeface="Ledger"/>
                <a:ea typeface="Ledger"/>
                <a:cs typeface="Ledger"/>
                <a:sym typeface="Ledger"/>
              </a:rPr>
              <a:t>Architecture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457200" y="1966764"/>
            <a:ext cx="4000500" cy="1909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Char char="•"/>
            </a:pPr>
            <a:r>
              <a:rPr b="1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Frontend:</a:t>
            </a: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 lexer → recursive-descent parser → naive TAC generator.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Char char="•"/>
            </a:pPr>
            <a:r>
              <a:rPr b="1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Optimizer loop:</a:t>
            </a: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 Mutation Engine → deduplicated Candidate Pool → Correctness Validator → Cost Evaluator → Greedy Selection.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Char char="•"/>
            </a:pPr>
            <a:r>
              <a:rPr b="1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Execution support:</a:t>
            </a: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 TAC interpreter, reference interpreter, test-input vectors, and simulated cycles.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Char char="•"/>
            </a:pPr>
            <a:r>
              <a:rPr b="1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Output:</a:t>
            </a: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 optimized TAC, result files, plots, and final reference checks.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4686300" y="1535311"/>
            <a:ext cx="40005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2100"/>
              <a:buFont typeface="Ledger"/>
              <a:buNone/>
            </a:pPr>
            <a:r>
              <a:rPr b="0" i="0" lang="en-US" sz="2100" u="none" cap="none" strike="noStrike">
                <a:solidFill>
                  <a:srgbClr val="F1F5F2"/>
                </a:solidFill>
                <a:latin typeface="Ledger"/>
                <a:ea typeface="Ledger"/>
                <a:cs typeface="Ledger"/>
                <a:sym typeface="Ledger"/>
              </a:rPr>
              <a:t>Workflow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4686300" y="1966764"/>
            <a:ext cx="4000500" cy="1344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Parse and generate baseline TAC.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Generate inputs and record baseline outputs and cost.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Apply operators at every site and deduplicate.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Reject incorrect candidates, score valid candidates, and accept the cheapest improvement.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Repeat, then run final checks.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8679731" y="4833714"/>
            <a:ext cx="464269" cy="162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57150" spcFirstLastPara="1" rIns="57150" wrap="square" tIns="1905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700"/>
              <a:buFont typeface="Mozilla Text"/>
              <a:buNone/>
            </a:pPr>
            <a:r>
              <a:rPr b="0" i="0" lang="en-US" sz="7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6 / 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/>
          <p:nvPr/>
        </p:nvSpPr>
        <p:spPr>
          <a:xfrm>
            <a:off x="457200" y="457200"/>
            <a:ext cx="8686800" cy="130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850"/>
              <a:buFont typeface="Mozilla Text Medium"/>
              <a:buNone/>
            </a:pPr>
            <a:r>
              <a:rPr b="0" i="0" lang="en-US" sz="850" u="none" cap="none" strike="noStrike">
                <a:solidFill>
                  <a:srgbClr val="D6E0DC"/>
                </a:solidFill>
                <a:latin typeface="Mozilla Text Medium"/>
                <a:ea typeface="Mozilla Text Medium"/>
                <a:cs typeface="Mozilla Text Medium"/>
                <a:sym typeface="Mozilla Text Medium"/>
              </a:rPr>
              <a:t>IMPLEMENTATION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457200" y="642938"/>
            <a:ext cx="822960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2650"/>
              <a:buFont typeface="Ledger"/>
              <a:buNone/>
            </a:pPr>
            <a:r>
              <a:rPr b="0" i="0" lang="en-US" sz="2650" u="none" cap="none" strike="noStrike">
                <a:solidFill>
                  <a:srgbClr val="F1F5F2"/>
                </a:solidFill>
                <a:latin typeface="Ledger"/>
                <a:ea typeface="Ledger"/>
                <a:cs typeface="Ledger"/>
                <a:sym typeface="Ledger"/>
              </a:rPr>
              <a:t>Correctness and cost stay inspectable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457200" y="1077218"/>
            <a:ext cx="236599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1500"/>
              <a:buFont typeface="Mozilla Text"/>
              <a:buNone/>
            </a:pPr>
            <a:r>
              <a:rPr b="0" i="0" lang="en-US" sz="1500" u="none" cap="none" strike="noStrike">
                <a:solidFill>
                  <a:srgbClr val="F1F5F2"/>
                </a:solidFill>
                <a:latin typeface="Mozilla Text"/>
                <a:ea typeface="Mozilla Text"/>
                <a:cs typeface="Mozilla Text"/>
                <a:sym typeface="Mozilla Text"/>
              </a:rPr>
              <a:t>Core stack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457200" y="1421011"/>
            <a:ext cx="2365995" cy="600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Python 3 standard library · matplotlib · Mermaid · unittest · custom random-program fuzzer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457200" y="2059856"/>
            <a:ext cx="236599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1500"/>
              <a:buFont typeface="Mozilla Text"/>
              <a:buNone/>
            </a:pPr>
            <a:r>
              <a:rPr b="0" i="0" lang="en-US" sz="1500" u="none" cap="none" strike="noStrike">
                <a:solidFill>
                  <a:srgbClr val="F1F5F2"/>
                </a:solidFill>
                <a:latin typeface="Mozilla Text"/>
                <a:ea typeface="Mozilla Text"/>
                <a:cs typeface="Mozilla Text"/>
                <a:sym typeface="Mozilla Text"/>
              </a:rPr>
              <a:t>Observable outputs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457200" y="2403649"/>
            <a:ext cx="2365995" cy="81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Every candidate → </a:t>
            </a:r>
            <a:r>
              <a:rPr b="0" i="0" lang="en-US" sz="1100" u="none" cap="none" strike="noStrike">
                <a:solidFill>
                  <a:srgbClr val="D6E0DC"/>
                </a:solidFill>
                <a:highlight>
                  <a:srgbClr val="132827"/>
                </a:highlight>
                <a:latin typeface="Consolas"/>
                <a:ea typeface="Consolas"/>
                <a:cs typeface="Consolas"/>
                <a:sym typeface="Consolas"/>
              </a:rPr>
              <a:t>candidate_log.csv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Results → </a:t>
            </a:r>
            <a:r>
              <a:rPr b="0" i="0" lang="en-US" sz="1100" u="none" cap="none" strike="noStrike">
                <a:solidFill>
                  <a:srgbClr val="D6E0DC"/>
                </a:solidFill>
                <a:highlight>
                  <a:srgbClr val="132827"/>
                </a:highlight>
                <a:latin typeface="Consolas"/>
                <a:ea typeface="Consolas"/>
                <a:cs typeface="Consolas"/>
                <a:sym typeface="Consolas"/>
              </a:rPr>
              <a:t>results.csv</a:t>
            </a: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 and </a:t>
            </a:r>
            <a:r>
              <a:rPr b="0" i="0" lang="en-US" sz="1100" u="none" cap="none" strike="noStrike">
                <a:solidFill>
                  <a:srgbClr val="D6E0DC"/>
                </a:solidFill>
                <a:highlight>
                  <a:srgbClr val="132827"/>
                </a:highlight>
                <a:latin typeface="Consolas"/>
                <a:ea typeface="Consolas"/>
                <a:cs typeface="Consolas"/>
                <a:sym typeface="Consolas"/>
              </a:rPr>
              <a:t>summary.json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3166021" y="1077218"/>
            <a:ext cx="5520779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1500"/>
              <a:buFont typeface="Mozilla Text"/>
              <a:buNone/>
            </a:pPr>
            <a:r>
              <a:rPr b="0" i="0" lang="en-US" sz="1500" u="none" cap="none" strike="noStrike">
                <a:solidFill>
                  <a:srgbClr val="F1F5F2"/>
                </a:solidFill>
                <a:latin typeface="Mozilla Text"/>
                <a:ea typeface="Mozilla Text"/>
                <a:cs typeface="Mozilla Text"/>
                <a:sym typeface="Mozilla Text"/>
              </a:rPr>
              <a:t>Mutation operator matrix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11"/>
          <p:cNvGraphicFramePr/>
          <p:nvPr/>
        </p:nvGraphicFramePr>
        <p:xfrm>
          <a:off x="3166021" y="14210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{2B469875-2126-43AC-AF7F-AC486EA822BE}</a:tableStyleId>
              </a:tblPr>
              <a:tblGrid>
                <a:gridCol w="538600"/>
                <a:gridCol w="1301575"/>
                <a:gridCol w="538600"/>
                <a:gridCol w="1301575"/>
                <a:gridCol w="538600"/>
                <a:gridCol w="1301800"/>
              </a:tblGrid>
              <a:tr h="357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DB0AB"/>
                        </a:buClr>
                        <a:buSzPts val="1100"/>
                        <a:buFont typeface="Mozilla Text"/>
                        <a:buNone/>
                      </a:pPr>
                      <a:r>
                        <a:rPr lang="en-US" sz="1100" u="none" cap="none" strike="noStrike">
                          <a:solidFill>
                            <a:srgbClr val="9DB0AB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ID</a:t>
                      </a:r>
                      <a:endParaRPr sz="1100" u="none" cap="none" strike="noStrike">
                        <a:latin typeface="Mozilla Text"/>
                        <a:ea typeface="Mozilla Text"/>
                        <a:cs typeface="Mozilla Text"/>
                        <a:sym typeface="Mozilla Text"/>
                      </a:endParaRPr>
                    </a:p>
                  </a:txBody>
                  <a:tcPr marT="76200" marB="76200" marR="114300" marL="64000" anchor="ctr">
                    <a:lnL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DB0AB"/>
                        </a:buClr>
                        <a:buSzPts val="1100"/>
                        <a:buFont typeface="Mozilla Text"/>
                        <a:buNone/>
                      </a:pPr>
                      <a:r>
                        <a:rPr lang="en-US" sz="1100" u="none" cap="none" strike="noStrike">
                          <a:solidFill>
                            <a:srgbClr val="9DB0AB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Operator</a:t>
                      </a:r>
                      <a:endParaRPr sz="1100" u="none" cap="none" strike="noStrike">
                        <a:latin typeface="Mozilla Text"/>
                        <a:ea typeface="Mozilla Text"/>
                        <a:cs typeface="Mozilla Text"/>
                        <a:sym typeface="Mozilla Text"/>
                      </a:endParaRPr>
                    </a:p>
                  </a:txBody>
                  <a:tcPr marT="76200" marB="76200" marR="114300" marL="64000" anchor="ctr">
                    <a:lnL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DB0AB"/>
                        </a:buClr>
                        <a:buSzPts val="1100"/>
                        <a:buFont typeface="Mozilla Text"/>
                        <a:buNone/>
                      </a:pPr>
                      <a:r>
                        <a:rPr lang="en-US" sz="1100" u="none" cap="none" strike="noStrike">
                          <a:solidFill>
                            <a:srgbClr val="9DB0AB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ID</a:t>
                      </a:r>
                      <a:endParaRPr sz="1100" u="none" cap="none" strike="noStrike">
                        <a:latin typeface="Mozilla Text"/>
                        <a:ea typeface="Mozilla Text"/>
                        <a:cs typeface="Mozilla Text"/>
                        <a:sym typeface="Mozilla Text"/>
                      </a:endParaRPr>
                    </a:p>
                  </a:txBody>
                  <a:tcPr marT="76200" marB="76200" marR="114300" marL="64000" anchor="ctr">
                    <a:lnL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DB0AB"/>
                        </a:buClr>
                        <a:buSzPts val="1100"/>
                        <a:buFont typeface="Mozilla Text"/>
                        <a:buNone/>
                      </a:pPr>
                      <a:r>
                        <a:rPr lang="en-US" sz="1100" u="none" cap="none" strike="noStrike">
                          <a:solidFill>
                            <a:srgbClr val="9DB0AB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Operator</a:t>
                      </a:r>
                      <a:endParaRPr sz="1100" u="none" cap="none" strike="noStrike">
                        <a:latin typeface="Mozilla Text"/>
                        <a:ea typeface="Mozilla Text"/>
                        <a:cs typeface="Mozilla Text"/>
                        <a:sym typeface="Mozilla Text"/>
                      </a:endParaRPr>
                    </a:p>
                  </a:txBody>
                  <a:tcPr marT="76200" marB="76200" marR="114300" marL="64000" anchor="ctr">
                    <a:lnL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DB0AB"/>
                        </a:buClr>
                        <a:buSzPts val="1100"/>
                        <a:buFont typeface="Mozilla Text"/>
                        <a:buNone/>
                      </a:pPr>
                      <a:r>
                        <a:rPr lang="en-US" sz="1100" u="none" cap="none" strike="noStrike">
                          <a:solidFill>
                            <a:srgbClr val="9DB0AB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ID</a:t>
                      </a:r>
                      <a:endParaRPr sz="1100" u="none" cap="none" strike="noStrike">
                        <a:latin typeface="Mozilla Text"/>
                        <a:ea typeface="Mozilla Text"/>
                        <a:cs typeface="Mozilla Text"/>
                        <a:sym typeface="Mozilla Text"/>
                      </a:endParaRPr>
                    </a:p>
                  </a:txBody>
                  <a:tcPr marT="76200" marB="76200" marR="114300" marL="64000" anchor="ctr">
                    <a:lnL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DB0AB"/>
                        </a:buClr>
                        <a:buSzPts val="1100"/>
                        <a:buFont typeface="Mozilla Text"/>
                        <a:buNone/>
                      </a:pPr>
                      <a:r>
                        <a:rPr lang="en-US" sz="1100" u="none" cap="none" strike="noStrike">
                          <a:solidFill>
                            <a:srgbClr val="9DB0AB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Operator</a:t>
                      </a:r>
                      <a:endParaRPr sz="1100" u="none" cap="none" strike="noStrike">
                        <a:latin typeface="Mozilla Text"/>
                        <a:ea typeface="Mozilla Text"/>
                        <a:cs typeface="Mozilla Text"/>
                        <a:sym typeface="Mozilla Text"/>
                      </a:endParaRPr>
                    </a:p>
                  </a:txBody>
                  <a:tcPr marT="76200" marB="76200" marR="114300" marL="64000" anchor="ctr">
                    <a:lnL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0DC"/>
                        </a:buClr>
                        <a:buSzPts val="1100"/>
                        <a:buFont typeface="Mozilla Text"/>
                        <a:buNone/>
                      </a:pPr>
                      <a:r>
                        <a:rPr lang="en-US" sz="1100" u="none" cap="none" strike="noStrike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M1</a:t>
                      </a:r>
                      <a:endParaRPr sz="1100" u="none" cap="none" strike="noStrike">
                        <a:latin typeface="Mozilla Text"/>
                        <a:ea typeface="Mozilla Text"/>
                        <a:cs typeface="Mozilla Text"/>
                        <a:sym typeface="Mozilla Text"/>
                      </a:endParaRPr>
                    </a:p>
                  </a:txBody>
                  <a:tcPr marT="76200" marB="76200" marR="114300" marL="64000" anchor="ctr">
                    <a:lnL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0DC"/>
                        </a:buClr>
                        <a:buSzPts val="1100"/>
                        <a:buFont typeface="Mozilla Text"/>
                        <a:buNone/>
                      </a:pPr>
                      <a:r>
                        <a:rPr lang="en-US" sz="1100" u="none" cap="none" strike="noStrike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Zero-add removal</a:t>
                      </a:r>
                      <a:endParaRPr sz="1100" u="none" cap="none" strike="noStrike">
                        <a:latin typeface="Mozilla Text"/>
                        <a:ea typeface="Mozilla Text"/>
                        <a:cs typeface="Mozilla Text"/>
                        <a:sym typeface="Mozilla Text"/>
                      </a:endParaRPr>
                    </a:p>
                  </a:txBody>
                  <a:tcPr marT="76200" marB="76200" marR="114300" marL="64000" anchor="ctr">
                    <a:lnL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0DC"/>
                        </a:buClr>
                        <a:buSzPts val="1100"/>
                        <a:buFont typeface="Mozilla Text"/>
                        <a:buNone/>
                      </a:pPr>
                      <a:r>
                        <a:rPr lang="en-US" sz="1100" u="none" cap="none" strike="noStrike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M2</a:t>
                      </a:r>
                      <a:endParaRPr sz="1100" u="none" cap="none" strike="noStrike">
                        <a:latin typeface="Mozilla Text"/>
                        <a:ea typeface="Mozilla Text"/>
                        <a:cs typeface="Mozilla Text"/>
                        <a:sym typeface="Mozilla Text"/>
                      </a:endParaRPr>
                    </a:p>
                  </a:txBody>
                  <a:tcPr marT="76200" marB="76200" marR="114300" marL="64000" anchor="ctr">
                    <a:lnL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0DC"/>
                        </a:buClr>
                        <a:buSzPts val="1100"/>
                        <a:buFont typeface="Mozilla Text"/>
                        <a:buNone/>
                      </a:pPr>
                      <a:r>
                        <a:rPr lang="en-US" sz="1100" u="none" cap="none" strike="noStrike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One-multiply removal</a:t>
                      </a:r>
                      <a:endParaRPr sz="1100" u="none" cap="none" strike="noStrike">
                        <a:latin typeface="Mozilla Text"/>
                        <a:ea typeface="Mozilla Text"/>
                        <a:cs typeface="Mozilla Text"/>
                        <a:sym typeface="Mozilla Text"/>
                      </a:endParaRPr>
                    </a:p>
                  </a:txBody>
                  <a:tcPr marT="76200" marB="76200" marR="114300" marL="64000" anchor="ctr">
                    <a:lnL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0DC"/>
                        </a:buClr>
                        <a:buSzPts val="1100"/>
                        <a:buFont typeface="Mozilla Text"/>
                        <a:buNone/>
                      </a:pPr>
                      <a:r>
                        <a:rPr lang="en-US" sz="1100" u="none" cap="none" strike="noStrike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M3</a:t>
                      </a:r>
                      <a:endParaRPr sz="1100" u="none" cap="none" strike="noStrike">
                        <a:latin typeface="Mozilla Text"/>
                        <a:ea typeface="Mozilla Text"/>
                        <a:cs typeface="Mozilla Text"/>
                        <a:sym typeface="Mozilla Text"/>
                      </a:endParaRPr>
                    </a:p>
                  </a:txBody>
                  <a:tcPr marT="76200" marB="76200" marR="114300" marL="64000" anchor="ctr">
                    <a:lnL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0DC"/>
                        </a:buClr>
                        <a:buSzPts val="1100"/>
                        <a:buFont typeface="Mozilla Text"/>
                        <a:buNone/>
                      </a:pPr>
                      <a:r>
                        <a:rPr lang="en-US" sz="1100" u="none" cap="none" strike="noStrike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Constant folding</a:t>
                      </a:r>
                      <a:endParaRPr sz="1100" u="none" cap="none" strike="noStrike">
                        <a:latin typeface="Mozilla Text"/>
                        <a:ea typeface="Mozilla Text"/>
                        <a:cs typeface="Mozilla Text"/>
                        <a:sym typeface="Mozilla Text"/>
                      </a:endParaRPr>
                    </a:p>
                  </a:txBody>
                  <a:tcPr marT="76200" marB="76200" marR="114300" marL="64000" anchor="ctr">
                    <a:lnL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0DC"/>
                        </a:buClr>
                        <a:buSzPts val="1100"/>
                        <a:buFont typeface="Mozilla Text"/>
                        <a:buNone/>
                      </a:pPr>
                      <a:r>
                        <a:rPr lang="en-US" sz="1100" u="none" cap="none" strike="noStrike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M4</a:t>
                      </a:r>
                      <a:endParaRPr sz="1100" u="none" cap="none" strike="noStrike">
                        <a:latin typeface="Mozilla Text"/>
                        <a:ea typeface="Mozilla Text"/>
                        <a:cs typeface="Mozilla Text"/>
                        <a:sym typeface="Mozilla Text"/>
                      </a:endParaRPr>
                    </a:p>
                  </a:txBody>
                  <a:tcPr marT="76200" marB="76200" marR="114300" marL="64000" anchor="ctr">
                    <a:lnL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0DC"/>
                        </a:buClr>
                        <a:buSzPts val="1100"/>
                        <a:buFont typeface="Mozilla Text"/>
                        <a:buNone/>
                      </a:pPr>
                      <a:r>
                        <a:rPr lang="en-US" sz="1100" u="none" cap="none" strike="noStrike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Strength reduction</a:t>
                      </a:r>
                      <a:endParaRPr sz="1100" u="none" cap="none" strike="noStrike">
                        <a:latin typeface="Mozilla Text"/>
                        <a:ea typeface="Mozilla Text"/>
                        <a:cs typeface="Mozilla Text"/>
                        <a:sym typeface="Mozilla Text"/>
                      </a:endParaRPr>
                    </a:p>
                  </a:txBody>
                  <a:tcPr marT="76200" marB="76200" marR="114300" marL="64000" anchor="ctr">
                    <a:lnL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0DC"/>
                        </a:buClr>
                        <a:buSzPts val="1100"/>
                        <a:buFont typeface="Mozilla Text"/>
                        <a:buNone/>
                      </a:pPr>
                      <a:r>
                        <a:rPr lang="en-US" sz="1100" u="none" cap="none" strike="noStrike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M5</a:t>
                      </a:r>
                      <a:endParaRPr sz="1100" u="none" cap="none" strike="noStrike">
                        <a:latin typeface="Mozilla Text"/>
                        <a:ea typeface="Mozilla Text"/>
                        <a:cs typeface="Mozilla Text"/>
                        <a:sym typeface="Mozilla Text"/>
                      </a:endParaRPr>
                    </a:p>
                  </a:txBody>
                  <a:tcPr marT="76200" marB="76200" marR="114300" marL="64000" anchor="ctr">
                    <a:lnL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0DC"/>
                        </a:buClr>
                        <a:buSzPts val="1100"/>
                        <a:buFont typeface="Mozilla Text"/>
                        <a:buNone/>
                      </a:pPr>
                      <a:r>
                        <a:rPr lang="en-US" sz="1100" u="none" cap="none" strike="noStrike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Dead assignment removal</a:t>
                      </a:r>
                      <a:endParaRPr sz="1100" u="none" cap="none" strike="noStrike">
                        <a:latin typeface="Mozilla Text"/>
                        <a:ea typeface="Mozilla Text"/>
                        <a:cs typeface="Mozilla Text"/>
                        <a:sym typeface="Mozilla Text"/>
                      </a:endParaRPr>
                    </a:p>
                  </a:txBody>
                  <a:tcPr marT="76200" marB="76200" marR="114300" marL="64000" anchor="ctr">
                    <a:lnL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0DC"/>
                        </a:buClr>
                        <a:buSzPts val="1100"/>
                        <a:buFont typeface="Mozilla Text"/>
                        <a:buNone/>
                      </a:pPr>
                      <a:r>
                        <a:rPr lang="en-US" sz="1100" u="none" cap="none" strike="noStrike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M6</a:t>
                      </a:r>
                      <a:endParaRPr sz="1100" u="none" cap="none" strike="noStrike">
                        <a:latin typeface="Mozilla Text"/>
                        <a:ea typeface="Mozilla Text"/>
                        <a:cs typeface="Mozilla Text"/>
                        <a:sym typeface="Mozilla Text"/>
                      </a:endParaRPr>
                    </a:p>
                  </a:txBody>
                  <a:tcPr marT="76200" marB="76200" marR="114300" marL="64000" anchor="ctr">
                    <a:lnL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0DC"/>
                        </a:buClr>
                        <a:buSzPts val="1100"/>
                        <a:buFont typeface="Mozilla Text"/>
                        <a:buNone/>
                      </a:pPr>
                      <a:r>
                        <a:rPr lang="en-US" sz="1100" u="none" cap="none" strike="noStrike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Common subexpression elimination</a:t>
                      </a:r>
                      <a:endParaRPr sz="1100" u="none" cap="none" strike="noStrike">
                        <a:latin typeface="Mozilla Text"/>
                        <a:ea typeface="Mozilla Text"/>
                        <a:cs typeface="Mozilla Text"/>
                        <a:sym typeface="Mozilla Text"/>
                      </a:endParaRPr>
                    </a:p>
                  </a:txBody>
                  <a:tcPr marT="76200" marB="76200" marR="114300" marL="64000" anchor="ctr">
                    <a:lnL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0DC"/>
                        </a:buClr>
                        <a:buSzPts val="1100"/>
                        <a:buFont typeface="Mozilla Text"/>
                        <a:buNone/>
                      </a:pPr>
                      <a:r>
                        <a:rPr lang="en-US" sz="1100" u="none" cap="none" strike="noStrike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M7</a:t>
                      </a:r>
                      <a:endParaRPr sz="1100" u="none" cap="none" strike="noStrike">
                        <a:latin typeface="Mozilla Text"/>
                        <a:ea typeface="Mozilla Text"/>
                        <a:cs typeface="Mozilla Text"/>
                        <a:sym typeface="Mozilla Text"/>
                      </a:endParaRPr>
                    </a:p>
                  </a:txBody>
                  <a:tcPr marT="76200" marB="76200" marR="114300" marL="64000" anchor="ctr">
                    <a:lnL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0DC"/>
                        </a:buClr>
                        <a:buSzPts val="1100"/>
                        <a:buFont typeface="Mozilla Text"/>
                        <a:buNone/>
                      </a:pPr>
                      <a:r>
                        <a:rPr lang="en-US" sz="1100" u="none" cap="none" strike="noStrike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Constant propagation</a:t>
                      </a:r>
                      <a:endParaRPr sz="1100" u="none" cap="none" strike="noStrike">
                        <a:latin typeface="Mozilla Text"/>
                        <a:ea typeface="Mozilla Text"/>
                        <a:cs typeface="Mozilla Text"/>
                        <a:sym typeface="Mozilla Text"/>
                      </a:endParaRPr>
                    </a:p>
                  </a:txBody>
                  <a:tcPr marT="76200" marB="76200" marR="114300" marL="64000" anchor="ctr">
                    <a:lnL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0DC"/>
                        </a:buClr>
                        <a:buSzPts val="1100"/>
                        <a:buFont typeface="Mozilla Text"/>
                        <a:buNone/>
                      </a:pPr>
                      <a:r>
                        <a:rPr lang="en-US" sz="1100" u="none" cap="none" strike="noStrike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M8</a:t>
                      </a:r>
                      <a:endParaRPr sz="1100" u="none" cap="none" strike="noStrike">
                        <a:latin typeface="Mozilla Text"/>
                        <a:ea typeface="Mozilla Text"/>
                        <a:cs typeface="Mozilla Text"/>
                        <a:sym typeface="Mozilla Text"/>
                      </a:endParaRPr>
                    </a:p>
                  </a:txBody>
                  <a:tcPr marT="76200" marB="76200" marR="114300" marL="64000" anchor="ctr">
                    <a:lnL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0DC"/>
                        </a:buClr>
                        <a:buSzPts val="1100"/>
                        <a:buFont typeface="Mozilla Text"/>
                        <a:buNone/>
                      </a:pPr>
                      <a:r>
                        <a:rPr lang="en-US" sz="1100" u="none" cap="none" strike="noStrike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Instruction reordering</a:t>
                      </a:r>
                      <a:endParaRPr sz="1100" u="none" cap="none" strike="noStrike">
                        <a:latin typeface="Mozilla Text"/>
                        <a:ea typeface="Mozilla Text"/>
                        <a:cs typeface="Mozilla Text"/>
                        <a:sym typeface="Mozilla Text"/>
                      </a:endParaRPr>
                    </a:p>
                  </a:txBody>
                  <a:tcPr marT="76200" marB="76200" marR="114300" marL="64000" anchor="ctr">
                    <a:lnL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0DC"/>
                        </a:buClr>
                        <a:buSzPts val="1100"/>
                        <a:buFont typeface="Mozilla Text"/>
                        <a:buNone/>
                      </a:pPr>
                      <a:r>
                        <a:rPr lang="en-US" sz="1100" u="none" cap="none" strike="noStrike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M9</a:t>
                      </a:r>
                      <a:endParaRPr sz="1100" u="none" cap="none" strike="noStrike">
                        <a:latin typeface="Mozilla Text"/>
                        <a:ea typeface="Mozilla Text"/>
                        <a:cs typeface="Mozilla Text"/>
                        <a:sym typeface="Mozilla Text"/>
                      </a:endParaRPr>
                    </a:p>
                  </a:txBody>
                  <a:tcPr marT="76200" marB="76200" marR="114300" marL="64000" anchor="ctr">
                    <a:lnL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0DC"/>
                        </a:buClr>
                        <a:buSzPts val="1100"/>
                        <a:buFont typeface="Mozilla Text"/>
                        <a:buNone/>
                      </a:pPr>
                      <a:r>
                        <a:rPr lang="en-US" sz="1100" u="none" cap="none" strike="noStrike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Copy propagation</a:t>
                      </a:r>
                      <a:endParaRPr sz="1100" u="none" cap="none" strike="noStrike">
                        <a:latin typeface="Mozilla Text"/>
                        <a:ea typeface="Mozilla Text"/>
                        <a:cs typeface="Mozilla Text"/>
                        <a:sym typeface="Mozilla Text"/>
                      </a:endParaRPr>
                    </a:p>
                  </a:txBody>
                  <a:tcPr marT="76200" marB="76200" marR="114300" marL="64000" anchor="ctr">
                    <a:lnL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E55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C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11"/>
          <p:cNvSpPr/>
          <p:nvPr/>
        </p:nvSpPr>
        <p:spPr>
          <a:xfrm>
            <a:off x="457200" y="3689747"/>
            <a:ext cx="8229600" cy="745778"/>
          </a:xfrm>
          <a:prstGeom prst="roundRect">
            <a:avLst>
              <a:gd fmla="val 1149" name="adj"/>
            </a:avLst>
          </a:prstGeom>
          <a:solidFill>
            <a:srgbClr val="4B3F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"/>
          <p:cNvSpPr/>
          <p:nvPr/>
        </p:nvSpPr>
        <p:spPr>
          <a:xfrm>
            <a:off x="595313" y="3862388"/>
            <a:ext cx="7953375" cy="400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zilla Text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ozilla Text"/>
                <a:ea typeface="Mozilla Text"/>
                <a:cs typeface="Mozilla Text"/>
                <a:sym typeface="Mozilla Text"/>
              </a:rPr>
              <a:t>Soundness fix.</a:t>
            </a:r>
            <a:r>
              <a:rPr b="0" i="0" lang="en-US" sz="1100" u="none" cap="none" strike="noStrike">
                <a:solidFill>
                  <a:srgbClr val="FFFFFF"/>
                </a:solidFill>
                <a:latin typeface="Mozilla Text"/>
                <a:ea typeface="Mozilla Text"/>
                <a:cs typeface="Mozilla Text"/>
                <a:sym typeface="Mozilla Text"/>
              </a:rPr>
              <a:t> Fuzzing exposed a division-by-zero bug. Unsafe deletion or movement of possibly trapping divisions is now blocked.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457200" y="4559350"/>
            <a:ext cx="8686800" cy="141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DB0AB"/>
              </a:buClr>
              <a:buSzPts val="850"/>
              <a:buFont typeface="Mozilla Text"/>
              <a:buNone/>
            </a:pPr>
            <a:r>
              <a:rPr b="0" i="0" lang="en-US" sz="850" u="none" cap="none" strike="noStrike">
                <a:solidFill>
                  <a:srgbClr val="9DB0AB"/>
                </a:solidFill>
                <a:latin typeface="Mozilla Text"/>
                <a:ea typeface="Mozilla Text"/>
                <a:cs typeface="Mozilla Text"/>
                <a:sym typeface="Mozilla Text"/>
              </a:rPr>
              <a:t>Simulated cycles: +, −, &lt;&lt;, copy, and I/O = 1; * = 3; / and % = 10; plus a read-after-write stall.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8687619" y="4833714"/>
            <a:ext cx="456381" cy="162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57150" spcFirstLastPara="1" rIns="57150" wrap="square" tIns="1905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700"/>
              <a:buFont typeface="Mozilla Text"/>
              <a:buNone/>
            </a:pPr>
            <a:r>
              <a:rPr b="0" i="0" lang="en-US" sz="7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7 / 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/>
          <p:nvPr/>
        </p:nvSpPr>
        <p:spPr>
          <a:xfrm>
            <a:off x="457200" y="457200"/>
            <a:ext cx="8686800" cy="130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850"/>
              <a:buFont typeface="Mozilla Text Medium"/>
              <a:buNone/>
            </a:pPr>
            <a:r>
              <a:rPr b="0" i="0" lang="en-US" sz="850" u="none" cap="none" strike="noStrike">
                <a:solidFill>
                  <a:srgbClr val="D6E0DC"/>
                </a:solidFill>
                <a:latin typeface="Mozilla Text Medium"/>
                <a:ea typeface="Mozilla Text Medium"/>
                <a:cs typeface="Mozilla Text Medium"/>
                <a:sym typeface="Mozilla Text Medium"/>
              </a:rPr>
              <a:t>RESULTS · EMPIRICAL EVIDENCE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457200" y="642938"/>
            <a:ext cx="822960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2650"/>
              <a:buFont typeface="Ledger"/>
              <a:buNone/>
            </a:pPr>
            <a:r>
              <a:rPr b="0" i="0" lang="en-US" sz="2650" u="none" cap="none" strike="noStrike">
                <a:solidFill>
                  <a:srgbClr val="F1F5F2"/>
                </a:solidFill>
                <a:latin typeface="Ledger"/>
                <a:ea typeface="Ledger"/>
                <a:cs typeface="Ledger"/>
                <a:sym typeface="Ledger"/>
              </a:rPr>
              <a:t>Strong correctness with measurable gains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457200" y="1158180"/>
            <a:ext cx="37032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8A4C"/>
              </a:buClr>
              <a:buSzPts val="2950"/>
              <a:buFont typeface="Ledger"/>
              <a:buNone/>
            </a:pPr>
            <a:r>
              <a:rPr b="0" i="0" lang="en-US" sz="2950" u="none" cap="none" strike="noStrike">
                <a:solidFill>
                  <a:srgbClr val="FF8A4C"/>
                </a:solidFill>
                <a:latin typeface="Ledger"/>
                <a:ea typeface="Ledger"/>
                <a:cs typeface="Ledger"/>
                <a:sym typeface="Ledger"/>
              </a:rPr>
              <a:t>52.71%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457200" y="1696343"/>
            <a:ext cx="3703290" cy="200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average cost reduction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2"/>
          <p:cNvSpPr/>
          <p:nvPr/>
        </p:nvSpPr>
        <p:spPr>
          <a:xfrm>
            <a:off x="457200" y="2010891"/>
            <a:ext cx="37032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2950"/>
              <a:buFont typeface="Ledger"/>
              <a:buNone/>
            </a:pPr>
            <a:r>
              <a:rPr b="0" i="0" lang="en-US" sz="2950" u="none" cap="none" strike="noStrike">
                <a:solidFill>
                  <a:srgbClr val="F1F5F2"/>
                </a:solidFill>
                <a:latin typeface="Ledger"/>
                <a:ea typeface="Ledger"/>
                <a:cs typeface="Ledger"/>
                <a:sym typeface="Ledger"/>
              </a:rPr>
              <a:t>3,343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457200" y="2549054"/>
            <a:ext cx="3703290" cy="400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candidates evaluated; 3,343/3,343 validation tests passed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2"/>
          <p:cNvSpPr/>
          <p:nvPr/>
        </p:nvSpPr>
        <p:spPr>
          <a:xfrm>
            <a:off x="457200" y="3063850"/>
            <a:ext cx="37032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2950"/>
              <a:buFont typeface="Ledger"/>
              <a:buNone/>
            </a:pPr>
            <a:r>
              <a:rPr b="0" i="0" lang="en-US" sz="2950" u="none" cap="none" strike="noStrike">
                <a:solidFill>
                  <a:srgbClr val="F1F5F2"/>
                </a:solidFill>
                <a:latin typeface="Ledger"/>
                <a:ea typeface="Ledger"/>
                <a:cs typeface="Ledger"/>
                <a:sym typeface="Ledger"/>
              </a:rPr>
              <a:t>4,500/4,500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457200" y="3602013"/>
            <a:ext cx="3703290" cy="200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unseen inputs matched the reference interpreter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2"/>
          <p:cNvSpPr/>
          <p:nvPr/>
        </p:nvSpPr>
        <p:spPr>
          <a:xfrm>
            <a:off x="457200" y="3916561"/>
            <a:ext cx="37032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2950"/>
              <a:buFont typeface="Ledger"/>
              <a:buNone/>
            </a:pPr>
            <a:r>
              <a:rPr b="0" i="0" lang="en-US" sz="2950" u="none" cap="none" strike="noStrike">
                <a:solidFill>
                  <a:srgbClr val="F1F5F2"/>
                </a:solidFill>
                <a:latin typeface="Ledger"/>
                <a:ea typeface="Ledger"/>
                <a:cs typeface="Ledger"/>
                <a:sym typeface="Ledger"/>
              </a:rPr>
              <a:t>1,300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2"/>
          <p:cNvSpPr/>
          <p:nvPr/>
        </p:nvSpPr>
        <p:spPr>
          <a:xfrm>
            <a:off x="457200" y="4454723"/>
            <a:ext cx="3703290" cy="400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random programs produced 0 incorrect results after the soundness fix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2"/>
          <p:cNvSpPr/>
          <p:nvPr/>
        </p:nvSpPr>
        <p:spPr>
          <a:xfrm>
            <a:off x="4331940" y="1380902"/>
            <a:ext cx="4354860" cy="141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DB0AB"/>
              </a:buClr>
              <a:buSzPts val="850"/>
              <a:buFont typeface="Mozilla Text"/>
              <a:buNone/>
            </a:pPr>
            <a:r>
              <a:rPr b="0" i="0" lang="en-US" sz="850" u="none" cap="none" strike="noStrike">
                <a:solidFill>
                  <a:srgbClr val="9DB0AB"/>
                </a:solidFill>
                <a:latin typeface="Mozilla Text"/>
                <a:ea typeface="Mozilla Text"/>
                <a:cs typeface="Mozilla Text"/>
                <a:sym typeface="Mozilla Text"/>
              </a:rPr>
              <a:t>Reported cost-reduction summary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1" name="Google Shape;17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1940" y="1603251"/>
            <a:ext cx="4000500" cy="180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2"/>
          <p:cNvSpPr/>
          <p:nvPr/>
        </p:nvSpPr>
        <p:spPr>
          <a:xfrm>
            <a:off x="4331940" y="3467770"/>
            <a:ext cx="4354860" cy="282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DB0AB"/>
              </a:buClr>
              <a:buSzPts val="850"/>
              <a:buFont typeface="Mozilla Text"/>
              <a:buNone/>
            </a:pPr>
            <a:r>
              <a:rPr b="0" i="0" lang="en-US" sz="850" u="none" cap="none" strike="noStrike">
                <a:solidFill>
                  <a:srgbClr val="9DB0AB"/>
                </a:solidFill>
                <a:latin typeface="Mozilla Text"/>
                <a:ea typeface="Mozilla Text"/>
                <a:cs typeface="Mozilla Text"/>
                <a:sym typeface="Mozilla Text"/>
              </a:rPr>
              <a:t>Best reduction on P06: 89.56%; lowest reduction on P12: 15.65%. Average accepted mutations / iterations per program: 19.33, range 11–28.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4331940" y="3831506"/>
            <a:ext cx="4354860" cy="800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Dead-code and constant-heavy programs improve most; strength reduction improves least because it mainly lowers the cycle component. Correctness is empirically tested, not formally proven; execution time is simulated.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4155728" y="1158180"/>
            <a:ext cx="9525" cy="3697039"/>
          </a:xfrm>
          <a:prstGeom prst="rect">
            <a:avLst/>
          </a:prstGeom>
          <a:solidFill>
            <a:srgbClr val="3E55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2"/>
          <p:cNvSpPr/>
          <p:nvPr/>
        </p:nvSpPr>
        <p:spPr>
          <a:xfrm>
            <a:off x="8678987" y="4833714"/>
            <a:ext cx="465013" cy="162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57150" spcFirstLastPara="1" rIns="57150" wrap="square" tIns="1905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700"/>
              <a:buFont typeface="Mozilla Text"/>
              <a:buNone/>
            </a:pPr>
            <a:r>
              <a:rPr b="0" i="0" lang="en-US" sz="7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8 / 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/>
          <p:nvPr/>
        </p:nvSpPr>
        <p:spPr>
          <a:xfrm>
            <a:off x="457200" y="1491928"/>
            <a:ext cx="4000500" cy="130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850"/>
              <a:buFont typeface="Mozilla Text Medium"/>
              <a:buNone/>
            </a:pPr>
            <a:r>
              <a:rPr b="0" i="0" lang="en-US" sz="850" u="none" cap="none" strike="noStrike">
                <a:solidFill>
                  <a:srgbClr val="D6E0DC"/>
                </a:solidFill>
                <a:latin typeface="Mozilla Text Medium"/>
                <a:ea typeface="Mozilla Text Medium"/>
                <a:cs typeface="Mozilla Text Medium"/>
                <a:sym typeface="Mozilla Text Medium"/>
              </a:rPr>
              <a:t>PROJECT STATUS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3"/>
          <p:cNvSpPr/>
          <p:nvPr/>
        </p:nvSpPr>
        <p:spPr>
          <a:xfrm>
            <a:off x="457200" y="1677665"/>
            <a:ext cx="3543300" cy="1131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2650"/>
              <a:buFont typeface="Ledger"/>
              <a:buNone/>
            </a:pPr>
            <a:r>
              <a:rPr b="0" i="0" lang="en-US" sz="2650" u="none" cap="none" strike="noStrike">
                <a:solidFill>
                  <a:srgbClr val="F1F5F2"/>
                </a:solidFill>
                <a:latin typeface="Ledger"/>
                <a:ea typeface="Ledger"/>
                <a:cs typeface="Ledger"/>
                <a:sym typeface="Ledger"/>
              </a:rPr>
              <a:t>Core prototype complete, scale-up next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457200" y="2947169"/>
            <a:ext cx="3337247" cy="704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300"/>
              <a:buFont typeface="Mozilla Text"/>
              <a:buNone/>
            </a:pPr>
            <a:r>
              <a:rPr b="0" i="0" lang="en-US" sz="13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The end-to-end Review-1 pipeline is working; the next question is how far it scales.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4686300" y="114300"/>
            <a:ext cx="4457700" cy="130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850"/>
              <a:buFont typeface="Mozilla Text Medium"/>
              <a:buNone/>
            </a:pPr>
            <a:r>
              <a:rPr b="0" i="0" lang="en-US" sz="850" u="none" cap="none" strike="noStrike">
                <a:solidFill>
                  <a:srgbClr val="D6E0DC"/>
                </a:solidFill>
                <a:latin typeface="Mozilla Text Medium"/>
                <a:ea typeface="Mozilla Text Medium"/>
                <a:cs typeface="Mozilla Text Medium"/>
                <a:sym typeface="Mozilla Text Medium"/>
              </a:rPr>
              <a:t>COMPLETE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4686300" y="300037"/>
            <a:ext cx="4343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1500"/>
              <a:buFont typeface="Mozilla Text"/>
              <a:buNone/>
            </a:pPr>
            <a:r>
              <a:rPr b="0" i="0" lang="en-US" sz="1500" u="none" cap="none" strike="noStrike">
                <a:solidFill>
                  <a:srgbClr val="F1F5F2"/>
                </a:solidFill>
                <a:latin typeface="Mozilla Text"/>
                <a:ea typeface="Mozilla Text"/>
                <a:cs typeface="Mozilla Text"/>
                <a:sym typeface="Mozilla Text"/>
              </a:rPr>
              <a:t>Core prototype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4686300" y="643830"/>
            <a:ext cx="4343400" cy="600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Frontend, TAC generator, interpreter, 9 mutation operators, validator, reference interpreter, cost model, greedy search, seeded dataset, results, plots, tests, and fuzzing.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4686300" y="1473175"/>
            <a:ext cx="4457700" cy="130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850"/>
              <a:buFont typeface="Mozilla Text Medium"/>
              <a:buNone/>
            </a:pPr>
            <a:r>
              <a:rPr b="0" i="0" lang="en-US" sz="850" u="none" cap="none" strike="noStrike">
                <a:solidFill>
                  <a:srgbClr val="D6E0DC"/>
                </a:solidFill>
                <a:latin typeface="Mozilla Text Medium"/>
                <a:ea typeface="Mozilla Text Medium"/>
                <a:cs typeface="Mozilla Text Medium"/>
                <a:sym typeface="Mozilla Text Medium"/>
              </a:rPr>
              <a:t>IN PROGRESS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4686300" y="1658913"/>
            <a:ext cx="4343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1500"/>
              <a:buFont typeface="Mozilla Text"/>
              <a:buNone/>
            </a:pPr>
            <a:r>
              <a:rPr b="0" i="0" lang="en-US" sz="1500" u="none" cap="none" strike="noStrike">
                <a:solidFill>
                  <a:srgbClr val="F1F5F2"/>
                </a:solidFill>
                <a:latin typeface="Mozilla Text"/>
                <a:ea typeface="Mozilla Text"/>
                <a:cs typeface="Mozilla Text"/>
                <a:sym typeface="Mozilla Text"/>
              </a:rPr>
              <a:t>Scale-up design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4686300" y="2002706"/>
            <a:ext cx="4457700" cy="200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Design of the scaled dataset and tiered expansion plan.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4686300" y="2431554"/>
            <a:ext cx="4457700" cy="130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850"/>
              <a:buFont typeface="Mozilla Text Medium"/>
              <a:buNone/>
            </a:pPr>
            <a:r>
              <a:rPr b="0" i="0" lang="en-US" sz="850" u="none" cap="none" strike="noStrike">
                <a:solidFill>
                  <a:srgbClr val="D6E0DC"/>
                </a:solidFill>
                <a:latin typeface="Mozilla Text Medium"/>
                <a:ea typeface="Mozilla Text Medium"/>
                <a:cs typeface="Mozilla Text Medium"/>
                <a:sym typeface="Mozilla Text Medium"/>
              </a:rPr>
              <a:t>NEXT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4686300" y="2617291"/>
            <a:ext cx="4343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1500"/>
              <a:buFont typeface="Mozilla Text"/>
              <a:buNone/>
            </a:pPr>
            <a:r>
              <a:rPr b="0" i="0" lang="en-US" sz="1500" u="none" cap="none" strike="noStrike">
                <a:solidFill>
                  <a:srgbClr val="F1F5F2"/>
                </a:solidFill>
                <a:latin typeface="Mozilla Text"/>
                <a:ea typeface="Mozilla Text"/>
                <a:cs typeface="Mozilla Text"/>
                <a:sym typeface="Mozilla Text"/>
              </a:rPr>
              <a:t>Broader search and semantics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4686300" y="2961084"/>
            <a:ext cx="4343400" cy="600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Scale to 200–500 programs; explore simulated annealing or beam search; add SMT-based equivalence checking; support control flow and 32-bit overflow modeling.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4686300" y="1354113"/>
            <a:ext cx="4457700" cy="9525"/>
          </a:xfrm>
          <a:prstGeom prst="rect">
            <a:avLst/>
          </a:prstGeom>
          <a:solidFill>
            <a:srgbClr val="3E55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3"/>
          <p:cNvSpPr/>
          <p:nvPr/>
        </p:nvSpPr>
        <p:spPr>
          <a:xfrm>
            <a:off x="4686300" y="2312491"/>
            <a:ext cx="4457700" cy="9525"/>
          </a:xfrm>
          <a:prstGeom prst="rect">
            <a:avLst/>
          </a:prstGeom>
          <a:solidFill>
            <a:srgbClr val="3E55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3"/>
          <p:cNvSpPr/>
          <p:nvPr/>
        </p:nvSpPr>
        <p:spPr>
          <a:xfrm>
            <a:off x="8679731" y="4833714"/>
            <a:ext cx="464269" cy="162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57150" spcFirstLastPara="1" rIns="57150" wrap="square" tIns="1905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700"/>
              <a:buFont typeface="Mozilla Text"/>
              <a:buNone/>
            </a:pPr>
            <a:r>
              <a:rPr b="0" i="0" lang="en-US" sz="7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9 / 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"/>
          <p:cNvSpPr/>
          <p:nvPr/>
        </p:nvSpPr>
        <p:spPr>
          <a:xfrm>
            <a:off x="457200" y="457200"/>
            <a:ext cx="3109020" cy="130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850"/>
              <a:buFont typeface="Mozilla Text Medium"/>
              <a:buNone/>
            </a:pPr>
            <a:r>
              <a:rPr b="0" i="0" lang="en-US" sz="850" u="none" cap="none" strike="noStrike">
                <a:solidFill>
                  <a:srgbClr val="D6E0DC"/>
                </a:solidFill>
                <a:latin typeface="Mozilla Text Medium"/>
                <a:ea typeface="Mozilla Text Medium"/>
                <a:cs typeface="Mozilla Text Medium"/>
                <a:sym typeface="Mozilla Text Medium"/>
              </a:rPr>
              <a:t>TAKEAWAY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4"/>
          <p:cNvSpPr/>
          <p:nvPr/>
        </p:nvSpPr>
        <p:spPr>
          <a:xfrm>
            <a:off x="457200" y="642938"/>
            <a:ext cx="2651820" cy="754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1F5F2"/>
              </a:buClr>
              <a:buSzPts val="2700"/>
              <a:buFont typeface="Ledger"/>
              <a:buNone/>
            </a:pPr>
            <a:r>
              <a:rPr b="0" i="0" lang="en-US" sz="2700" u="none" cap="none" strike="noStrike">
                <a:solidFill>
                  <a:srgbClr val="F1F5F2"/>
                </a:solidFill>
                <a:latin typeface="Ledger"/>
                <a:ea typeface="Ledger"/>
                <a:cs typeface="Ledger"/>
                <a:sym typeface="Ledger"/>
              </a:rPr>
              <a:t>Conclusion and references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4"/>
          <p:cNvSpPr/>
          <p:nvPr/>
        </p:nvSpPr>
        <p:spPr>
          <a:xfrm>
            <a:off x="457200" y="1549598"/>
            <a:ext cx="2651820" cy="1408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300"/>
              <a:buFont typeface="Mozilla Text"/>
              <a:buNone/>
            </a:pPr>
            <a:r>
              <a:rPr b="0" i="0" lang="en-US" sz="13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The Review-1 prototype demonstrates an end-to-end mutation-based TAC optimizer with differential-testing validation and cost-guided greedy search.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4"/>
          <p:cNvSpPr/>
          <p:nvPr/>
        </p:nvSpPr>
        <p:spPr>
          <a:xfrm>
            <a:off x="457200" y="3110657"/>
            <a:ext cx="2651820" cy="600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15 seeded programs achieved </a:t>
            </a:r>
            <a:r>
              <a:rPr b="0" i="0" lang="en-US" sz="1100" u="none" cap="none" strike="noStrike">
                <a:solidFill>
                  <a:srgbClr val="FF8A4C"/>
                </a:solidFill>
                <a:latin typeface="Mozilla Text"/>
                <a:ea typeface="Mozilla Text"/>
                <a:cs typeface="Mozilla Text"/>
                <a:sym typeface="Mozilla Text"/>
              </a:rPr>
              <a:t>52.71%</a:t>
            </a: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 average cost reduction with all reported correctness checks passing.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457200" y="3835226"/>
            <a:ext cx="2651820" cy="830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DB0AB"/>
              </a:buClr>
              <a:buSzPts val="850"/>
              <a:buFont typeface="Mozilla Text"/>
              <a:buNone/>
            </a:pPr>
            <a:r>
              <a:rPr b="0" i="0" lang="en-US" sz="850" u="none" cap="none" strike="noStrike">
                <a:solidFill>
                  <a:srgbClr val="9DB0AB"/>
                </a:solidFill>
                <a:latin typeface="Mozilla Text"/>
                <a:ea typeface="Mozilla Text"/>
                <a:cs typeface="Mozilla Text"/>
                <a:sym typeface="Mozilla Text"/>
              </a:rPr>
              <a:t>Limitations: synthetic dataset, simulated execution time, empirical rather than formal correctness, straight-line integer code, and greedy local optima.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950"/>
              </a:spcBef>
              <a:spcAft>
                <a:spcPts val="0"/>
              </a:spcAft>
              <a:buClr>
                <a:srgbClr val="9DB0AB"/>
              </a:buClr>
              <a:buSzPts val="850"/>
              <a:buFont typeface="Mozilla Text"/>
              <a:buNone/>
            </a:pPr>
            <a:r>
              <a:rPr b="0" i="0" lang="en-US" sz="850" u="none" cap="none" strike="noStrike">
                <a:solidFill>
                  <a:srgbClr val="9DB0AB"/>
                </a:solidFill>
                <a:latin typeface="Mozilla Text"/>
                <a:ea typeface="Mozilla Text"/>
                <a:cs typeface="Mozilla Text"/>
                <a:sym typeface="Mozilla Text"/>
              </a:rPr>
              <a:t>Next: larger datasets, stronger search, and formal equivalence checking.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4251945" y="457200"/>
            <a:ext cx="4892055" cy="130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850"/>
              <a:buFont typeface="Mozilla Text Medium"/>
              <a:buNone/>
            </a:pPr>
            <a:r>
              <a:rPr b="0" i="0" lang="en-US" sz="850" u="none" cap="none" strike="noStrike">
                <a:solidFill>
                  <a:srgbClr val="D6E0DC"/>
                </a:solidFill>
                <a:latin typeface="Mozilla Text Medium"/>
                <a:ea typeface="Mozilla Text Medium"/>
                <a:cs typeface="Mozilla Text Medium"/>
                <a:sym typeface="Mozilla Text Medium"/>
              </a:rPr>
              <a:t>REFERENCES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4251945" y="845344"/>
            <a:ext cx="4434855" cy="200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1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Aho et al.</a:t>
            </a: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 TAC and classical compiler optimization foundations.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4251945" y="1312292"/>
            <a:ext cx="4434855" cy="400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1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Massalin; Schkufza et al.</a:t>
            </a: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 Superoptimization and mutate–test–score search.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4"/>
          <p:cNvSpPr/>
          <p:nvPr/>
        </p:nvSpPr>
        <p:spPr>
          <a:xfrm>
            <a:off x="4251945" y="1979488"/>
            <a:ext cx="4434855" cy="400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1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Petke et al.; Kulkarni et al.</a:t>
            </a: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 Genetic improvement, phase ordering, and local search.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4251945" y="2646685"/>
            <a:ext cx="4434855" cy="200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1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Tate et al.</a:t>
            </a: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 Equality saturation.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4251945" y="3113633"/>
            <a:ext cx="4434855" cy="400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1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Lopes et al.; Yang et al.</a:t>
            </a: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 Translation validation and compiler bug finding.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4251945" y="3780830"/>
            <a:ext cx="4434855" cy="200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1100"/>
              <a:buFont typeface="Mozilla Text"/>
              <a:buNone/>
            </a:pPr>
            <a:r>
              <a:rPr b="1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Cummins et al.</a:t>
            </a:r>
            <a:r>
              <a:rPr b="0" i="0" lang="en-US" sz="11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 CompilerGym research environment.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4251945" y="4228728"/>
            <a:ext cx="4892055" cy="141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DB0AB"/>
              </a:buClr>
              <a:buSzPts val="850"/>
              <a:buFont typeface="Mozilla Text"/>
              <a:buNone/>
            </a:pPr>
            <a:r>
              <a:rPr b="0" i="0" lang="en-US" sz="850" u="none" cap="none" strike="noStrike">
                <a:solidFill>
                  <a:srgbClr val="9DB0AB"/>
                </a:solidFill>
                <a:latin typeface="Mozilla Text"/>
                <a:ea typeface="Mozilla Text"/>
                <a:cs typeface="Mozilla Text"/>
                <a:sym typeface="Mozilla Text"/>
              </a:rPr>
              <a:t>Full bibliographic details and URLs should follow the course citation style.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4251945" y="1174179"/>
            <a:ext cx="4434855" cy="9525"/>
          </a:xfrm>
          <a:prstGeom prst="rect">
            <a:avLst/>
          </a:prstGeom>
          <a:solidFill>
            <a:srgbClr val="3E55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"/>
          <p:cNvSpPr/>
          <p:nvPr/>
        </p:nvSpPr>
        <p:spPr>
          <a:xfrm>
            <a:off x="4251945" y="1841376"/>
            <a:ext cx="4434855" cy="9525"/>
          </a:xfrm>
          <a:prstGeom prst="rect">
            <a:avLst/>
          </a:prstGeom>
          <a:solidFill>
            <a:srgbClr val="3E55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4"/>
          <p:cNvSpPr/>
          <p:nvPr/>
        </p:nvSpPr>
        <p:spPr>
          <a:xfrm>
            <a:off x="4251945" y="2508572"/>
            <a:ext cx="4434855" cy="9525"/>
          </a:xfrm>
          <a:prstGeom prst="rect">
            <a:avLst/>
          </a:prstGeom>
          <a:solidFill>
            <a:srgbClr val="3E55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4"/>
          <p:cNvSpPr/>
          <p:nvPr/>
        </p:nvSpPr>
        <p:spPr>
          <a:xfrm>
            <a:off x="4251945" y="2975521"/>
            <a:ext cx="4434855" cy="9525"/>
          </a:xfrm>
          <a:prstGeom prst="rect">
            <a:avLst/>
          </a:prstGeom>
          <a:solidFill>
            <a:srgbClr val="3E55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4"/>
          <p:cNvSpPr/>
          <p:nvPr/>
        </p:nvSpPr>
        <p:spPr>
          <a:xfrm>
            <a:off x="4251945" y="3642717"/>
            <a:ext cx="4434855" cy="9525"/>
          </a:xfrm>
          <a:prstGeom prst="rect">
            <a:avLst/>
          </a:prstGeom>
          <a:solidFill>
            <a:srgbClr val="3E55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4"/>
          <p:cNvSpPr/>
          <p:nvPr/>
        </p:nvSpPr>
        <p:spPr>
          <a:xfrm>
            <a:off x="8636645" y="4833714"/>
            <a:ext cx="507355" cy="162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57150" spcFirstLastPara="1" rIns="57150" wrap="square" tIns="1905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6E0DC"/>
              </a:buClr>
              <a:buSzPts val="700"/>
              <a:buFont typeface="Mozilla Text"/>
              <a:buNone/>
            </a:pPr>
            <a:r>
              <a:rPr b="0" i="0" lang="en-US" sz="700" u="none" cap="none" strike="noStrike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rPr>
              <a:t>10 / 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